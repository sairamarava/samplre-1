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 r:id="rId2"/>
    <p:sldId id="258" r:id="rId3"/>
    <p:sldId id="260" r:id="rId4"/>
    <p:sldId id="261" r:id="rId5"/>
    <p:sldId id="286" r:id="rId6"/>
    <p:sldId id="287" r:id="rId7"/>
    <p:sldId id="262" r:id="rId8"/>
    <p:sldId id="269" r:id="rId9"/>
    <p:sldId id="278" r:id="rId10"/>
    <p:sldId id="279" r:id="rId11"/>
    <p:sldId id="280" r:id="rId12"/>
    <p:sldId id="282" r:id="rId13"/>
    <p:sldId id="263" r:id="rId14"/>
    <p:sldId id="283" r:id="rId15"/>
    <p:sldId id="285" r:id="rId16"/>
    <p:sldId id="288" r:id="rId17"/>
    <p:sldId id="296" r:id="rId18"/>
    <p:sldId id="290" r:id="rId19"/>
    <p:sldId id="291" r:id="rId20"/>
    <p:sldId id="297" r:id="rId21"/>
    <p:sldId id="299" r:id="rId22"/>
    <p:sldId id="300" r:id="rId23"/>
    <p:sldId id="303" r:id="rId24"/>
    <p:sldId id="304" r:id="rId25"/>
    <p:sldId id="305" r:id="rId26"/>
    <p:sldId id="306" r:id="rId27"/>
    <p:sldId id="294" r:id="rId28"/>
    <p:sldId id="301" r:id="rId29"/>
    <p:sldId id="302" r:id="rId30"/>
    <p:sldId id="295" r:id="rId31"/>
    <p:sldId id="276" r:id="rId32"/>
    <p:sldId id="27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619B12-EE00-4278-A28F-CBF731C8D3EE}" type="datetimeFigureOut">
              <a:rPr lang="en-IN" smtClean="0"/>
              <a:t>05-05-2026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A8C09F-398E-446C-9D7E-6DA70E186005}" type="slidenum">
              <a:rPr lang="en-IN" smtClean="0"/>
              <a:t>‹#›</a:t>
            </a:fld>
            <a:endParaRPr lang="en-IN"/>
          </a:p>
        </p:txBody>
      </p:sp>
    </p:spTree>
    <p:extLst>
      <p:ext uri="{BB962C8B-B14F-4D97-AF65-F5344CB8AC3E}">
        <p14:creationId xmlns:p14="http://schemas.microsoft.com/office/powerpoint/2010/main" val="3198843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1</a:t>
            </a:fld>
            <a:endParaRPr lang="en-US"/>
          </a:p>
        </p:txBody>
      </p:sp>
    </p:spTree>
    <p:extLst>
      <p:ext uri="{BB962C8B-B14F-4D97-AF65-F5344CB8AC3E}">
        <p14:creationId xmlns:p14="http://schemas.microsoft.com/office/powerpoint/2010/main" val="1664872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2</a:t>
            </a:fld>
            <a:endParaRPr lang="en-US"/>
          </a:p>
        </p:txBody>
      </p:sp>
    </p:spTree>
    <p:extLst>
      <p:ext uri="{BB962C8B-B14F-4D97-AF65-F5344CB8AC3E}">
        <p14:creationId xmlns:p14="http://schemas.microsoft.com/office/powerpoint/2010/main" val="393451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3</a:t>
            </a:fld>
            <a:endParaRPr lang="en-US"/>
          </a:p>
        </p:txBody>
      </p:sp>
    </p:spTree>
    <p:extLst>
      <p:ext uri="{BB962C8B-B14F-4D97-AF65-F5344CB8AC3E}">
        <p14:creationId xmlns:p14="http://schemas.microsoft.com/office/powerpoint/2010/main" val="3557874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4</a:t>
            </a:fld>
            <a:endParaRPr lang="en-US"/>
          </a:p>
        </p:txBody>
      </p:sp>
    </p:spTree>
    <p:extLst>
      <p:ext uri="{BB962C8B-B14F-4D97-AF65-F5344CB8AC3E}">
        <p14:creationId xmlns:p14="http://schemas.microsoft.com/office/powerpoint/2010/main" val="1029966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B75A9-972E-6599-063F-54CFFB277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40111-9F32-7446-9A19-9D0509B4DE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4115DDD-3CBB-1124-F4B5-3C857C97D97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B6F5C2-CFFA-D117-B9D1-B6E7A1AB0010}"/>
              </a:ext>
            </a:extLst>
          </p:cNvPr>
          <p:cNvSpPr>
            <a:spLocks noGrp="1"/>
          </p:cNvSpPr>
          <p:nvPr>
            <p:ph type="sldNum" sz="quarter" idx="10"/>
          </p:nvPr>
        </p:nvSpPr>
        <p:spPr/>
        <p:txBody>
          <a:bodyPr/>
          <a:lstStyle/>
          <a:p>
            <a:fld id="{B93EB0D6-86A7-4DDE-A990-A9DCAC24D7B7}" type="slidenum">
              <a:rPr lang="en-US" smtClean="0"/>
              <a:t>5</a:t>
            </a:fld>
            <a:endParaRPr lang="en-US"/>
          </a:p>
        </p:txBody>
      </p:sp>
    </p:spTree>
    <p:extLst>
      <p:ext uri="{BB962C8B-B14F-4D97-AF65-F5344CB8AC3E}">
        <p14:creationId xmlns:p14="http://schemas.microsoft.com/office/powerpoint/2010/main" val="1308589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671A0-D1FB-3F85-6D45-F61E0397C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9096D-F378-5A71-E6A5-A49AE941956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04F8BE7-033B-5E1D-CACC-59F32A5061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75784E-FC8D-8ADC-7EC7-ED3F5233E121}"/>
              </a:ext>
            </a:extLst>
          </p:cNvPr>
          <p:cNvSpPr>
            <a:spLocks noGrp="1"/>
          </p:cNvSpPr>
          <p:nvPr>
            <p:ph type="sldNum" sz="quarter" idx="10"/>
          </p:nvPr>
        </p:nvSpPr>
        <p:spPr/>
        <p:txBody>
          <a:bodyPr/>
          <a:lstStyle/>
          <a:p>
            <a:fld id="{B93EB0D6-86A7-4DDE-A990-A9DCAC24D7B7}" type="slidenum">
              <a:rPr lang="en-US" smtClean="0"/>
              <a:t>6</a:t>
            </a:fld>
            <a:endParaRPr lang="en-US"/>
          </a:p>
        </p:txBody>
      </p:sp>
    </p:spTree>
    <p:extLst>
      <p:ext uri="{BB962C8B-B14F-4D97-AF65-F5344CB8AC3E}">
        <p14:creationId xmlns:p14="http://schemas.microsoft.com/office/powerpoint/2010/main" val="2781019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7</a:t>
            </a:fld>
            <a:endParaRPr lang="en-US"/>
          </a:p>
        </p:txBody>
      </p:sp>
    </p:spTree>
    <p:extLst>
      <p:ext uri="{BB962C8B-B14F-4D97-AF65-F5344CB8AC3E}">
        <p14:creationId xmlns:p14="http://schemas.microsoft.com/office/powerpoint/2010/main" val="2841704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8</a:t>
            </a:fld>
            <a:endParaRPr lang="en-US"/>
          </a:p>
        </p:txBody>
      </p:sp>
    </p:spTree>
    <p:extLst>
      <p:ext uri="{BB962C8B-B14F-4D97-AF65-F5344CB8AC3E}">
        <p14:creationId xmlns:p14="http://schemas.microsoft.com/office/powerpoint/2010/main" val="606192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3C72-8967-AEEA-888C-844C919A8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CB9C0-9F0E-3EC2-EF50-42CC611441A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596BC5E-F416-8CC9-F243-6109B8F138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A83977-7EA6-3379-BA13-296C1BB1FFA2}"/>
              </a:ext>
            </a:extLst>
          </p:cNvPr>
          <p:cNvSpPr>
            <a:spLocks noGrp="1"/>
          </p:cNvSpPr>
          <p:nvPr>
            <p:ph type="sldNum" sz="quarter" idx="10"/>
          </p:nvPr>
        </p:nvSpPr>
        <p:spPr/>
        <p:txBody>
          <a:bodyPr/>
          <a:lstStyle/>
          <a:p>
            <a:fld id="{B93EB0D6-86A7-4DDE-A990-A9DCAC24D7B7}" type="slidenum">
              <a:rPr lang="en-US" smtClean="0"/>
              <a:t>9</a:t>
            </a:fld>
            <a:endParaRPr lang="en-US"/>
          </a:p>
        </p:txBody>
      </p:sp>
    </p:spTree>
    <p:extLst>
      <p:ext uri="{BB962C8B-B14F-4D97-AF65-F5344CB8AC3E}">
        <p14:creationId xmlns:p14="http://schemas.microsoft.com/office/powerpoint/2010/main" val="1348563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C2DFD-5F37-8483-B444-09980247D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CD893-EF25-D921-D0CD-0FDC0C5DFA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C02C824-F0B2-F0D1-AB0C-91AC326E95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1C739E-D500-304B-FE0F-3CB1BDCB97D9}"/>
              </a:ext>
            </a:extLst>
          </p:cNvPr>
          <p:cNvSpPr>
            <a:spLocks noGrp="1"/>
          </p:cNvSpPr>
          <p:nvPr>
            <p:ph type="sldNum" sz="quarter" idx="10"/>
          </p:nvPr>
        </p:nvSpPr>
        <p:spPr/>
        <p:txBody>
          <a:bodyPr/>
          <a:lstStyle/>
          <a:p>
            <a:fld id="{B93EB0D6-86A7-4DDE-A990-A9DCAC24D7B7}" type="slidenum">
              <a:rPr lang="en-US" smtClean="0"/>
              <a:t>10</a:t>
            </a:fld>
            <a:endParaRPr lang="en-US"/>
          </a:p>
        </p:txBody>
      </p:sp>
    </p:spTree>
    <p:extLst>
      <p:ext uri="{BB962C8B-B14F-4D97-AF65-F5344CB8AC3E}">
        <p14:creationId xmlns:p14="http://schemas.microsoft.com/office/powerpoint/2010/main" val="2218903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98B62-8FCE-23A9-D853-CD49591E9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36DB7-9C2B-16C7-8F37-F5EDBE1FCA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FB62CEE-785C-70B1-9EAF-DD81D1D840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178605-FC36-6B82-CD4C-4A16D2CE5952}"/>
              </a:ext>
            </a:extLst>
          </p:cNvPr>
          <p:cNvSpPr>
            <a:spLocks noGrp="1"/>
          </p:cNvSpPr>
          <p:nvPr>
            <p:ph type="sldNum" sz="quarter" idx="10"/>
          </p:nvPr>
        </p:nvSpPr>
        <p:spPr/>
        <p:txBody>
          <a:bodyPr/>
          <a:lstStyle/>
          <a:p>
            <a:fld id="{B93EB0D6-86A7-4DDE-A990-A9DCAC24D7B7}" type="slidenum">
              <a:rPr lang="en-US" smtClean="0"/>
              <a:t>11</a:t>
            </a:fld>
            <a:endParaRPr lang="en-US"/>
          </a:p>
        </p:txBody>
      </p:sp>
    </p:spTree>
    <p:extLst>
      <p:ext uri="{BB962C8B-B14F-4D97-AF65-F5344CB8AC3E}">
        <p14:creationId xmlns:p14="http://schemas.microsoft.com/office/powerpoint/2010/main" val="696916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D90C-32DC-1885-C567-904A405E7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B8EBC-2253-BCC0-F0C3-05BF5D92612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8BE4E13-1C53-B980-6348-DB2448BE6B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A5C906-1E54-1241-E8AD-4F5AB1A1675B}"/>
              </a:ext>
            </a:extLst>
          </p:cNvPr>
          <p:cNvSpPr>
            <a:spLocks noGrp="1"/>
          </p:cNvSpPr>
          <p:nvPr>
            <p:ph type="sldNum" sz="quarter" idx="10"/>
          </p:nvPr>
        </p:nvSpPr>
        <p:spPr/>
        <p:txBody>
          <a:bodyPr/>
          <a:lstStyle/>
          <a:p>
            <a:fld id="{B93EB0D6-86A7-4DDE-A990-A9DCAC24D7B7}" type="slidenum">
              <a:rPr lang="en-US" smtClean="0"/>
              <a:t>12</a:t>
            </a:fld>
            <a:endParaRPr lang="en-US"/>
          </a:p>
        </p:txBody>
      </p:sp>
    </p:spTree>
    <p:extLst>
      <p:ext uri="{BB962C8B-B14F-4D97-AF65-F5344CB8AC3E}">
        <p14:creationId xmlns:p14="http://schemas.microsoft.com/office/powerpoint/2010/main" val="3782870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13</a:t>
            </a:fld>
            <a:endParaRPr lang="en-US"/>
          </a:p>
        </p:txBody>
      </p:sp>
    </p:spTree>
    <p:extLst>
      <p:ext uri="{BB962C8B-B14F-4D97-AF65-F5344CB8AC3E}">
        <p14:creationId xmlns:p14="http://schemas.microsoft.com/office/powerpoint/2010/main" val="3240651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6E26C-CFE7-22F1-F0E6-9850342BA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D4BA-D519-8858-1609-615CDA191E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43E87DE-EEC0-CA9F-33A8-3DBB2FAFF1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7BD894-A970-817D-B054-04A2AE929399}"/>
              </a:ext>
            </a:extLst>
          </p:cNvPr>
          <p:cNvSpPr>
            <a:spLocks noGrp="1"/>
          </p:cNvSpPr>
          <p:nvPr>
            <p:ph type="sldNum" sz="quarter" idx="10"/>
          </p:nvPr>
        </p:nvSpPr>
        <p:spPr/>
        <p:txBody>
          <a:bodyPr/>
          <a:lstStyle/>
          <a:p>
            <a:fld id="{B93EB0D6-86A7-4DDE-A990-A9DCAC24D7B7}" type="slidenum">
              <a:rPr lang="en-US" smtClean="0"/>
              <a:t>14</a:t>
            </a:fld>
            <a:endParaRPr lang="en-US"/>
          </a:p>
        </p:txBody>
      </p:sp>
    </p:spTree>
    <p:extLst>
      <p:ext uri="{BB962C8B-B14F-4D97-AF65-F5344CB8AC3E}">
        <p14:creationId xmlns:p14="http://schemas.microsoft.com/office/powerpoint/2010/main" val="984565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64540-BC05-32FE-5A8A-7A8CA9682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9229F7-4EC7-3DEF-0CA7-BCCF6AFDC73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15D2592-2C88-9650-7283-EF3295726B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0325FF-924D-8CCB-3252-334550B27A5F}"/>
              </a:ext>
            </a:extLst>
          </p:cNvPr>
          <p:cNvSpPr>
            <a:spLocks noGrp="1"/>
          </p:cNvSpPr>
          <p:nvPr>
            <p:ph type="sldNum" sz="quarter" idx="10"/>
          </p:nvPr>
        </p:nvSpPr>
        <p:spPr/>
        <p:txBody>
          <a:bodyPr/>
          <a:lstStyle/>
          <a:p>
            <a:fld id="{B93EB0D6-86A7-4DDE-A990-A9DCAC24D7B7}" type="slidenum">
              <a:rPr lang="en-US" smtClean="0"/>
              <a:t>15</a:t>
            </a:fld>
            <a:endParaRPr lang="en-US"/>
          </a:p>
        </p:txBody>
      </p:sp>
    </p:spTree>
    <p:extLst>
      <p:ext uri="{BB962C8B-B14F-4D97-AF65-F5344CB8AC3E}">
        <p14:creationId xmlns:p14="http://schemas.microsoft.com/office/powerpoint/2010/main" val="568322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31</a:t>
            </a:fld>
            <a:endParaRPr lang="en-US"/>
          </a:p>
        </p:txBody>
      </p:sp>
    </p:spTree>
    <p:extLst>
      <p:ext uri="{BB962C8B-B14F-4D97-AF65-F5344CB8AC3E}">
        <p14:creationId xmlns:p14="http://schemas.microsoft.com/office/powerpoint/2010/main" val="2131468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32</a:t>
            </a:fld>
            <a:endParaRPr lang="en-US"/>
          </a:p>
        </p:txBody>
      </p:sp>
    </p:spTree>
    <p:extLst>
      <p:ext uri="{BB962C8B-B14F-4D97-AF65-F5344CB8AC3E}">
        <p14:creationId xmlns:p14="http://schemas.microsoft.com/office/powerpoint/2010/main" val="1860909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4DDC-E918-3047-B4B1-B837EDF04E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7ECCD0-9DCE-2A44-82A2-3688616560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8BD4CB-3A25-3F50-CB41-DF9EDF98D455}"/>
              </a:ext>
            </a:extLst>
          </p:cNvPr>
          <p:cNvSpPr>
            <a:spLocks noGrp="1"/>
          </p:cNvSpPr>
          <p:nvPr>
            <p:ph type="dt" sz="half" idx="10"/>
          </p:nvPr>
        </p:nvSpPr>
        <p:spPr/>
        <p:txBody>
          <a:bodyPr/>
          <a:lstStyle/>
          <a:p>
            <a:fld id="{88294BE5-AEE1-4F6F-9045-6AFD23445C57}" type="datetime1">
              <a:rPr lang="en-IN" smtClean="0"/>
              <a:t>05-05-2026</a:t>
            </a:fld>
            <a:endParaRPr lang="en-IN"/>
          </a:p>
        </p:txBody>
      </p:sp>
      <p:sp>
        <p:nvSpPr>
          <p:cNvPr id="5" name="Footer Placeholder 4">
            <a:extLst>
              <a:ext uri="{FF2B5EF4-FFF2-40B4-BE49-F238E27FC236}">
                <a16:creationId xmlns:a16="http://schemas.microsoft.com/office/drawing/2014/main" id="{6C9B2AE9-6794-6FF8-8F3D-F4AF808F2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E22256-FFCB-EFF9-1A31-BA686244861D}"/>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852723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D2003-B96B-5E23-99E4-82182821C8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8ED416-095C-20FF-CFEF-458BC6B95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6C33EA-75BA-366C-C487-C90311D93253}"/>
              </a:ext>
            </a:extLst>
          </p:cNvPr>
          <p:cNvSpPr>
            <a:spLocks noGrp="1"/>
          </p:cNvSpPr>
          <p:nvPr>
            <p:ph type="dt" sz="half" idx="10"/>
          </p:nvPr>
        </p:nvSpPr>
        <p:spPr/>
        <p:txBody>
          <a:bodyPr/>
          <a:lstStyle/>
          <a:p>
            <a:fld id="{446EB431-574D-476F-B98C-71E35A45B13F}" type="datetime1">
              <a:rPr lang="en-IN" smtClean="0"/>
              <a:t>05-05-2026</a:t>
            </a:fld>
            <a:endParaRPr lang="en-IN"/>
          </a:p>
        </p:txBody>
      </p:sp>
      <p:sp>
        <p:nvSpPr>
          <p:cNvPr id="5" name="Footer Placeholder 4">
            <a:extLst>
              <a:ext uri="{FF2B5EF4-FFF2-40B4-BE49-F238E27FC236}">
                <a16:creationId xmlns:a16="http://schemas.microsoft.com/office/drawing/2014/main" id="{D10012AE-799D-AED5-C374-135C078688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66FD6C-2D93-A026-5385-E8B8A57A3756}"/>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225349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73A0E-811D-9EEC-2695-E843BCFCE0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57636E-4BA0-546C-0707-ECB4BAC116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2C6D91-5E0F-BBD0-5E06-FCEF65554E93}"/>
              </a:ext>
            </a:extLst>
          </p:cNvPr>
          <p:cNvSpPr>
            <a:spLocks noGrp="1"/>
          </p:cNvSpPr>
          <p:nvPr>
            <p:ph type="dt" sz="half" idx="10"/>
          </p:nvPr>
        </p:nvSpPr>
        <p:spPr/>
        <p:txBody>
          <a:bodyPr/>
          <a:lstStyle/>
          <a:p>
            <a:fld id="{12FB8C4A-27DE-4FAA-9CEE-26F77D3E7BE9}" type="datetime1">
              <a:rPr lang="en-IN" smtClean="0"/>
              <a:t>05-05-2026</a:t>
            </a:fld>
            <a:endParaRPr lang="en-IN"/>
          </a:p>
        </p:txBody>
      </p:sp>
      <p:sp>
        <p:nvSpPr>
          <p:cNvPr id="5" name="Footer Placeholder 4">
            <a:extLst>
              <a:ext uri="{FF2B5EF4-FFF2-40B4-BE49-F238E27FC236}">
                <a16:creationId xmlns:a16="http://schemas.microsoft.com/office/drawing/2014/main" id="{94F60427-255D-3AB8-0AE5-A773D89615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F747F3-54B2-19DA-BD01-B5815BD3E485}"/>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1006261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9A755-83AE-C89F-0A43-7D5041C0F5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26E7F7-69BC-37D8-D2DB-B3FA13FDD3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E52466-8FAA-C735-307B-83FA37F118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471C24-B8B6-FB29-549A-00E1E2564211}"/>
              </a:ext>
            </a:extLst>
          </p:cNvPr>
          <p:cNvSpPr>
            <a:spLocks noGrp="1"/>
          </p:cNvSpPr>
          <p:nvPr>
            <p:ph type="dt" sz="half" idx="10"/>
          </p:nvPr>
        </p:nvSpPr>
        <p:spPr/>
        <p:txBody>
          <a:bodyPr/>
          <a:lstStyle/>
          <a:p>
            <a:fld id="{A3A1605D-E721-4146-B4CF-E6234921AF2B}" type="datetime1">
              <a:rPr lang="en-IN" smtClean="0"/>
              <a:t>05-05-2026</a:t>
            </a:fld>
            <a:endParaRPr lang="en-IN"/>
          </a:p>
        </p:txBody>
      </p:sp>
      <p:sp>
        <p:nvSpPr>
          <p:cNvPr id="6" name="Footer Placeholder 5">
            <a:extLst>
              <a:ext uri="{FF2B5EF4-FFF2-40B4-BE49-F238E27FC236}">
                <a16:creationId xmlns:a16="http://schemas.microsoft.com/office/drawing/2014/main" id="{22335A2B-8677-6473-D617-7C39D2EC03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FCCFE3-E045-C51A-8DC5-851195969B5C}"/>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49270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427F8-AAD9-340C-966E-14DB791093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D54B28-0509-B6F4-BA8B-26738E9269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0AA823-DF40-D7A3-5935-F21C475FB7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A5CEFE-9360-71F0-F3BF-0B42069112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A9E0EE-08E6-0175-450E-9C67D31149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BB7F74-94A9-C432-6183-42CC87570947}"/>
              </a:ext>
            </a:extLst>
          </p:cNvPr>
          <p:cNvSpPr>
            <a:spLocks noGrp="1"/>
          </p:cNvSpPr>
          <p:nvPr>
            <p:ph type="dt" sz="half" idx="10"/>
          </p:nvPr>
        </p:nvSpPr>
        <p:spPr/>
        <p:txBody>
          <a:bodyPr/>
          <a:lstStyle/>
          <a:p>
            <a:fld id="{9FDE6699-13EB-4214-A292-F2BC0335DDA4}" type="datetime1">
              <a:rPr lang="en-IN" smtClean="0"/>
              <a:t>05-05-2026</a:t>
            </a:fld>
            <a:endParaRPr lang="en-IN"/>
          </a:p>
        </p:txBody>
      </p:sp>
      <p:sp>
        <p:nvSpPr>
          <p:cNvPr id="8" name="Footer Placeholder 7">
            <a:extLst>
              <a:ext uri="{FF2B5EF4-FFF2-40B4-BE49-F238E27FC236}">
                <a16:creationId xmlns:a16="http://schemas.microsoft.com/office/drawing/2014/main" id="{8785CD19-8E6F-19AB-9371-4A95060F7C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6F5AAB-371E-7093-8DB8-165833AC37B2}"/>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828409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40CA-25F6-23D7-20B4-2313AAABAF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03D7C0-78B9-82C9-7E66-3DFC9C85ABEC}"/>
              </a:ext>
            </a:extLst>
          </p:cNvPr>
          <p:cNvSpPr>
            <a:spLocks noGrp="1"/>
          </p:cNvSpPr>
          <p:nvPr>
            <p:ph type="dt" sz="half" idx="10"/>
          </p:nvPr>
        </p:nvSpPr>
        <p:spPr/>
        <p:txBody>
          <a:bodyPr/>
          <a:lstStyle/>
          <a:p>
            <a:fld id="{7F62EAB2-29B2-4DF6-96CB-BB6B617023A5}" type="datetime1">
              <a:rPr lang="en-IN" smtClean="0"/>
              <a:t>05-05-2026</a:t>
            </a:fld>
            <a:endParaRPr lang="en-IN"/>
          </a:p>
        </p:txBody>
      </p:sp>
      <p:sp>
        <p:nvSpPr>
          <p:cNvPr id="4" name="Footer Placeholder 3">
            <a:extLst>
              <a:ext uri="{FF2B5EF4-FFF2-40B4-BE49-F238E27FC236}">
                <a16:creationId xmlns:a16="http://schemas.microsoft.com/office/drawing/2014/main" id="{156A5D64-3D73-FB5F-37FD-9330F5F54D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976BFB-D7A6-80CE-8E48-F945BB2F3371}"/>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203189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B724F9-489D-30B2-7FA3-39332508854C}"/>
              </a:ext>
            </a:extLst>
          </p:cNvPr>
          <p:cNvSpPr>
            <a:spLocks noGrp="1"/>
          </p:cNvSpPr>
          <p:nvPr>
            <p:ph type="dt" sz="half" idx="10"/>
          </p:nvPr>
        </p:nvSpPr>
        <p:spPr/>
        <p:txBody>
          <a:bodyPr/>
          <a:lstStyle/>
          <a:p>
            <a:fld id="{2502E509-BAD8-47CF-B21E-E359B1A9383B}" type="datetime1">
              <a:rPr lang="en-IN" smtClean="0"/>
              <a:t>05-05-2026</a:t>
            </a:fld>
            <a:endParaRPr lang="en-IN"/>
          </a:p>
        </p:txBody>
      </p:sp>
      <p:sp>
        <p:nvSpPr>
          <p:cNvPr id="3" name="Footer Placeholder 2">
            <a:extLst>
              <a:ext uri="{FF2B5EF4-FFF2-40B4-BE49-F238E27FC236}">
                <a16:creationId xmlns:a16="http://schemas.microsoft.com/office/drawing/2014/main" id="{00EFE315-50A2-A1BC-B73A-D4096A1E9B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389F9BF-563D-9BA0-2C53-A5E40CB597C7}"/>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177322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0119E-E76E-2D05-D656-47216FADF2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74DEAB-C578-D4F2-F00D-21F94C7CAE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51C46B-9544-9A48-F749-5D14B7874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FB6012-8725-BCD0-CE5F-B5EEDC74E7E6}"/>
              </a:ext>
            </a:extLst>
          </p:cNvPr>
          <p:cNvSpPr>
            <a:spLocks noGrp="1"/>
          </p:cNvSpPr>
          <p:nvPr>
            <p:ph type="dt" sz="half" idx="10"/>
          </p:nvPr>
        </p:nvSpPr>
        <p:spPr/>
        <p:txBody>
          <a:bodyPr/>
          <a:lstStyle/>
          <a:p>
            <a:fld id="{52E61585-1373-42F7-8C90-963E82E3C238}" type="datetime1">
              <a:rPr lang="en-IN" smtClean="0"/>
              <a:t>05-05-2026</a:t>
            </a:fld>
            <a:endParaRPr lang="en-IN"/>
          </a:p>
        </p:txBody>
      </p:sp>
      <p:sp>
        <p:nvSpPr>
          <p:cNvPr id="6" name="Footer Placeholder 5">
            <a:extLst>
              <a:ext uri="{FF2B5EF4-FFF2-40B4-BE49-F238E27FC236}">
                <a16:creationId xmlns:a16="http://schemas.microsoft.com/office/drawing/2014/main" id="{FE97B080-7081-2C49-F71E-B765789830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3A873-61BB-1A5A-A646-71CD1D602E35}"/>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24423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D7F4B-29CB-EAE6-122C-00C4DAFBBB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5E8DC2-C705-3DCB-D5E3-687259E01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9CC8DF-B8A8-4B0C-460E-DB86E6C40E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A9390-3447-375D-4791-A719FF8CB2ED}"/>
              </a:ext>
            </a:extLst>
          </p:cNvPr>
          <p:cNvSpPr>
            <a:spLocks noGrp="1"/>
          </p:cNvSpPr>
          <p:nvPr>
            <p:ph type="dt" sz="half" idx="10"/>
          </p:nvPr>
        </p:nvSpPr>
        <p:spPr/>
        <p:txBody>
          <a:bodyPr/>
          <a:lstStyle/>
          <a:p>
            <a:fld id="{C5C9E2A3-C491-4B11-BADB-BF28B399DC89}" type="datetime1">
              <a:rPr lang="en-IN" smtClean="0"/>
              <a:t>05-05-2026</a:t>
            </a:fld>
            <a:endParaRPr lang="en-IN"/>
          </a:p>
        </p:txBody>
      </p:sp>
      <p:sp>
        <p:nvSpPr>
          <p:cNvPr id="6" name="Footer Placeholder 5">
            <a:extLst>
              <a:ext uri="{FF2B5EF4-FFF2-40B4-BE49-F238E27FC236}">
                <a16:creationId xmlns:a16="http://schemas.microsoft.com/office/drawing/2014/main" id="{56C50BCD-7EF5-6EF1-63C2-D7334B34CF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9655C8-DD60-948B-36CA-C914F7FFD8B7}"/>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2278603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FC721-C630-FC20-1D25-71216FAC05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F6A016-53C4-90AA-40F2-CF5189A3D3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6405F8-1B77-8F66-A5FA-EACACAC59551}"/>
              </a:ext>
            </a:extLst>
          </p:cNvPr>
          <p:cNvSpPr>
            <a:spLocks noGrp="1"/>
          </p:cNvSpPr>
          <p:nvPr>
            <p:ph type="dt" sz="half" idx="10"/>
          </p:nvPr>
        </p:nvSpPr>
        <p:spPr/>
        <p:txBody>
          <a:bodyPr/>
          <a:lstStyle/>
          <a:p>
            <a:fld id="{241DAB47-FDEC-4403-A927-3B1E9F490BA7}" type="datetime1">
              <a:rPr lang="en-IN" smtClean="0"/>
              <a:t>05-05-2026</a:t>
            </a:fld>
            <a:endParaRPr lang="en-IN"/>
          </a:p>
        </p:txBody>
      </p:sp>
      <p:sp>
        <p:nvSpPr>
          <p:cNvPr id="5" name="Footer Placeholder 4">
            <a:extLst>
              <a:ext uri="{FF2B5EF4-FFF2-40B4-BE49-F238E27FC236}">
                <a16:creationId xmlns:a16="http://schemas.microsoft.com/office/drawing/2014/main" id="{0DB2FC2C-6F22-1D9C-94E2-2BBD738FD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F6E721-EC62-B8BF-8639-A80ECAA54091}"/>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532395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DB2174-908F-7A67-9213-D1A327799E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002214-3C7F-1ED3-593E-9601C1B4E3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D0B59C-91D1-5EAB-3D2D-5ED52D6BCDCA}"/>
              </a:ext>
            </a:extLst>
          </p:cNvPr>
          <p:cNvSpPr>
            <a:spLocks noGrp="1"/>
          </p:cNvSpPr>
          <p:nvPr>
            <p:ph type="dt" sz="half" idx="10"/>
          </p:nvPr>
        </p:nvSpPr>
        <p:spPr/>
        <p:txBody>
          <a:bodyPr/>
          <a:lstStyle/>
          <a:p>
            <a:fld id="{2C38921B-FA58-4879-B3F3-414A272CF657}" type="datetime1">
              <a:rPr lang="en-IN" smtClean="0"/>
              <a:t>05-05-2026</a:t>
            </a:fld>
            <a:endParaRPr lang="en-IN"/>
          </a:p>
        </p:txBody>
      </p:sp>
      <p:sp>
        <p:nvSpPr>
          <p:cNvPr id="5" name="Footer Placeholder 4">
            <a:extLst>
              <a:ext uri="{FF2B5EF4-FFF2-40B4-BE49-F238E27FC236}">
                <a16:creationId xmlns:a16="http://schemas.microsoft.com/office/drawing/2014/main" id="{2CC9BFFA-0C43-0F58-9953-DDF88F8934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E1DC2A-8608-C653-805B-99FC3E033082}"/>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45756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A55A07-064C-AC1F-7821-AF6DFAD01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9605D2-2458-CF14-989F-BFF41FFF1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135A85-84B9-DD7E-F8F6-B368FCCE50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C6163-CD2F-4BDF-9DC0-392FE4AB248E}" type="datetime1">
              <a:rPr lang="en-IN" smtClean="0"/>
              <a:t>05-05-2026</a:t>
            </a:fld>
            <a:endParaRPr lang="en-IN"/>
          </a:p>
        </p:txBody>
      </p:sp>
      <p:sp>
        <p:nvSpPr>
          <p:cNvPr id="5" name="Footer Placeholder 4">
            <a:extLst>
              <a:ext uri="{FF2B5EF4-FFF2-40B4-BE49-F238E27FC236}">
                <a16:creationId xmlns:a16="http://schemas.microsoft.com/office/drawing/2014/main" id="{9597FAB0-DBEF-6A47-FABB-E292580782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8AF3EA-6911-C7B7-B220-51433C0D19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5B6183-8A9B-4479-A92F-19E2694DB44A}" type="slidenum">
              <a:rPr lang="en-IN" smtClean="0"/>
              <a:t>‹#›</a:t>
            </a:fld>
            <a:endParaRPr lang="en-IN"/>
          </a:p>
        </p:txBody>
      </p:sp>
    </p:spTree>
    <p:extLst>
      <p:ext uri="{BB962C8B-B14F-4D97-AF65-F5344CB8AC3E}">
        <p14:creationId xmlns:p14="http://schemas.microsoft.com/office/powerpoint/2010/main" val="770866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marketsandmarkets.com/Market-Reports/retrieval-augmented-generation-rag-market-135976317.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sairamarava/edurag" TargetMode="External"/><Relationship Id="rId2" Type="http://schemas.openxmlformats.org/officeDocument/2006/relationships/hyperlink" Target="https://colab.research.google.com/drive/1L-OcaX-6hiZ-TD15r13VvPRWW8qIq4wY#scrollTo=A1hGTaS0kqPF"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82797" y="367963"/>
            <a:ext cx="9829800" cy="2923877"/>
          </a:xfrm>
          <a:prstGeom prst="rect">
            <a:avLst/>
          </a:prstGeom>
        </p:spPr>
        <p:txBody>
          <a:bodyPr wrap="square">
            <a:spAutoFit/>
          </a:bodyPr>
          <a:lstStyle/>
          <a:p>
            <a:pPr lvl="2" algn="ctr"/>
            <a:r>
              <a:rPr lang="en-US" sz="2800" b="1" dirty="0" err="1">
                <a:solidFill>
                  <a:srgbClr val="FF0000"/>
                </a:solidFill>
                <a:latin typeface="Times New Roman" panose="02020603050405020304" pitchFamily="18" charset="0"/>
                <a:cs typeface="Times New Roman" panose="02020603050405020304" pitchFamily="18" charset="0"/>
              </a:rPr>
              <a:t>EduRAG</a:t>
            </a:r>
            <a:r>
              <a:rPr lang="en-US" sz="2800" b="1" dirty="0">
                <a:solidFill>
                  <a:srgbClr val="FF0000"/>
                </a:solidFill>
                <a:latin typeface="Times New Roman" panose="02020603050405020304" pitchFamily="18" charset="0"/>
                <a:cs typeface="Times New Roman" panose="02020603050405020304" pitchFamily="18" charset="0"/>
              </a:rPr>
              <a:t>: A Lightweight RAG Framework for </a:t>
            </a:r>
          </a:p>
          <a:p>
            <a:pPr lvl="2" algn="ctr"/>
            <a:r>
              <a:rPr lang="en-US" sz="2800" b="1" dirty="0">
                <a:solidFill>
                  <a:srgbClr val="FF0000"/>
                </a:solidFill>
                <a:latin typeface="Times New Roman" panose="02020603050405020304" pitchFamily="18" charset="0"/>
                <a:cs typeface="Times New Roman" panose="02020603050405020304" pitchFamily="18" charset="0"/>
              </a:rPr>
              <a:t>Academic QA</a:t>
            </a:r>
          </a:p>
          <a:p>
            <a:pPr lvl="2" algn="ctr"/>
            <a:endParaRPr lang="en-US" sz="2000" b="1" dirty="0">
              <a:latin typeface="Times New Roman" panose="02020603050405020304" pitchFamily="18" charset="0"/>
              <a:cs typeface="Times New Roman" panose="02020603050405020304" pitchFamily="18" charset="0"/>
            </a:endParaRPr>
          </a:p>
          <a:p>
            <a:pPr lvl="0" algn="ctr"/>
            <a:r>
              <a:rPr lang="en-US" b="1" dirty="0">
                <a:latin typeface="Times New Roman" panose="02020603050405020304" pitchFamily="18" charset="0"/>
                <a:cs typeface="Times New Roman" panose="02020603050405020304" pitchFamily="18" charset="0"/>
              </a:rPr>
              <a:t>IV </a:t>
            </a:r>
            <a:r>
              <a:rPr lang="en-US" b="1" dirty="0" err="1">
                <a:latin typeface="Times New Roman" panose="02020603050405020304" pitchFamily="18" charset="0"/>
                <a:cs typeface="Times New Roman" panose="02020603050405020304" pitchFamily="18" charset="0"/>
              </a:rPr>
              <a:t>B.Tech</a:t>
            </a:r>
            <a:r>
              <a:rPr lang="en-US" b="1" dirty="0">
                <a:latin typeface="Times New Roman" panose="02020603050405020304" pitchFamily="18" charset="0"/>
                <a:cs typeface="Times New Roman" panose="02020603050405020304" pitchFamily="18" charset="0"/>
              </a:rPr>
              <a:t> II </a:t>
            </a:r>
            <a:r>
              <a:rPr lang="en-US" b="1" dirty="0" err="1">
                <a:latin typeface="Times New Roman" panose="02020603050405020304" pitchFamily="18" charset="0"/>
                <a:cs typeface="Times New Roman" panose="02020603050405020304" pitchFamily="18" charset="0"/>
              </a:rPr>
              <a:t>sem</a:t>
            </a:r>
            <a:r>
              <a:rPr lang="en-US" b="1" dirty="0">
                <a:latin typeface="Times New Roman" panose="02020603050405020304" pitchFamily="18" charset="0"/>
                <a:cs typeface="Times New Roman" panose="02020603050405020304" pitchFamily="18" charset="0"/>
              </a:rPr>
              <a:t> (2022-26 Batch, A.Y: 2025-26)</a:t>
            </a:r>
          </a:p>
          <a:p>
            <a:pPr lvl="0" algn="ctr"/>
            <a:endParaRPr lang="en-US" b="1" dirty="0">
              <a:latin typeface="Times New Roman" panose="02020603050405020304" pitchFamily="18" charset="0"/>
              <a:cs typeface="Times New Roman" panose="02020603050405020304" pitchFamily="18" charset="0"/>
            </a:endParaRPr>
          </a:p>
          <a:p>
            <a:pPr lvl="0" algn="ctr"/>
            <a:endParaRPr lang="en-US" b="1" dirty="0">
              <a:latin typeface="Times New Roman" panose="02020603050405020304" pitchFamily="18" charset="0"/>
              <a:cs typeface="Times New Roman" panose="02020603050405020304" pitchFamily="18" charset="0"/>
            </a:endParaRPr>
          </a:p>
          <a:p>
            <a:pPr lvl="0" algn="ctr"/>
            <a:r>
              <a:rPr lang="en-US" b="1" dirty="0">
                <a:latin typeface="Times New Roman" panose="02020603050405020304" pitchFamily="18" charset="0"/>
                <a:cs typeface="Times New Roman" panose="02020603050405020304" pitchFamily="18" charset="0"/>
              </a:rPr>
              <a:t>A Review-1 Presentation </a:t>
            </a:r>
          </a:p>
          <a:p>
            <a:pPr lvl="0" algn="ctr"/>
            <a:r>
              <a:rPr lang="en-US" b="1" dirty="0">
                <a:latin typeface="Times New Roman" panose="02020603050405020304" pitchFamily="18" charset="0"/>
                <a:cs typeface="Times New Roman" panose="02020603050405020304" pitchFamily="18" charset="0"/>
              </a:rPr>
              <a:t>Submitted for the award of </a:t>
            </a:r>
            <a:r>
              <a:rPr lang="en-US" b="1" dirty="0" err="1">
                <a:latin typeface="Times New Roman" panose="02020603050405020304" pitchFamily="18" charset="0"/>
                <a:cs typeface="Times New Roman" panose="02020603050405020304" pitchFamily="18" charset="0"/>
              </a:rPr>
              <a:t>B.Tech</a:t>
            </a:r>
            <a:r>
              <a:rPr lang="en-US" b="1" dirty="0">
                <a:latin typeface="Times New Roman" panose="02020603050405020304" pitchFamily="18" charset="0"/>
                <a:cs typeface="Times New Roman" panose="02020603050405020304" pitchFamily="18" charset="0"/>
              </a:rPr>
              <a:t> in CSE(Artificial Intelligence)</a:t>
            </a:r>
          </a:p>
          <a:p>
            <a:pPr lvl="0" algn="ct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4686429B-0C83-44A8-A512-A863E50B6902}" type="slidenum">
              <a:rPr lang="en-US" smtClean="0"/>
              <a:t>1</a:t>
            </a:fld>
            <a:endParaRPr lang="en-US"/>
          </a:p>
        </p:txBody>
      </p:sp>
      <p:sp>
        <p:nvSpPr>
          <p:cNvPr id="8" name="Rectangle 7"/>
          <p:cNvSpPr/>
          <p:nvPr/>
        </p:nvSpPr>
        <p:spPr>
          <a:xfrm>
            <a:off x="271457" y="3566160"/>
            <a:ext cx="4246755" cy="156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Project Guide</a:t>
            </a:r>
          </a:p>
          <a:p>
            <a:pPr algn="ctr"/>
            <a:r>
              <a:rPr lang="en-US" dirty="0">
                <a:solidFill>
                  <a:srgbClr val="FF0000"/>
                </a:solidFill>
                <a:latin typeface="Times New Roman" panose="02020603050405020304" pitchFamily="18" charset="0"/>
                <a:cs typeface="Times New Roman" panose="02020603050405020304" pitchFamily="18" charset="0"/>
              </a:rPr>
              <a:t>Dr. R Kalpana</a:t>
            </a:r>
          </a:p>
          <a:p>
            <a:pPr algn="ctr"/>
            <a:r>
              <a:rPr lang="en-US" dirty="0">
                <a:solidFill>
                  <a:srgbClr val="FF0000"/>
                </a:solidFill>
                <a:latin typeface="Times New Roman" panose="02020603050405020304" pitchFamily="18" charset="0"/>
                <a:cs typeface="Times New Roman" panose="02020603050405020304" pitchFamily="18" charset="0"/>
              </a:rPr>
              <a:t>Professor &amp; Head</a:t>
            </a:r>
          </a:p>
          <a:p>
            <a:pPr algn="ctr"/>
            <a:r>
              <a:rPr lang="en-US" dirty="0">
                <a:solidFill>
                  <a:schemeClr val="tx1"/>
                </a:solidFill>
                <a:latin typeface="Times New Roman" panose="02020603050405020304" pitchFamily="18" charset="0"/>
                <a:cs typeface="Times New Roman" panose="02020603050405020304" pitchFamily="18" charset="0"/>
              </a:rPr>
              <a:t>Dept. of CSE(AI)</a:t>
            </a:r>
          </a:p>
        </p:txBody>
      </p:sp>
      <p:sp>
        <p:nvSpPr>
          <p:cNvPr id="10" name="Rectangle 9"/>
          <p:cNvSpPr/>
          <p:nvPr/>
        </p:nvSpPr>
        <p:spPr>
          <a:xfrm>
            <a:off x="2632390" y="5639313"/>
            <a:ext cx="6958650" cy="11628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DEPARTMENT OF CSE( ARTIFICIAL INTELLIGENCE)</a:t>
            </a:r>
          </a:p>
          <a:p>
            <a:pPr algn="ctr"/>
            <a:r>
              <a:rPr lang="en-US" sz="1600" b="1" dirty="0">
                <a:solidFill>
                  <a:schemeClr val="tx1"/>
                </a:solidFill>
                <a:latin typeface="Times New Roman" panose="02020603050405020304" pitchFamily="18" charset="0"/>
                <a:cs typeface="Times New Roman" panose="02020603050405020304" pitchFamily="18" charset="0"/>
              </a:rPr>
              <a:t>MADANAPALLE INSTITUTE OF TECHNOLOGY &amp; SCIENCE</a:t>
            </a:r>
          </a:p>
          <a:p>
            <a:pPr algn="ctr"/>
            <a:r>
              <a:rPr lang="en-US" sz="1600" b="1" dirty="0">
                <a:solidFill>
                  <a:schemeClr val="tx1"/>
                </a:solidFill>
                <a:latin typeface="Times New Roman" panose="02020603050405020304" pitchFamily="18" charset="0"/>
                <a:cs typeface="Times New Roman" panose="02020603050405020304" pitchFamily="18" charset="0"/>
              </a:rPr>
              <a:t>MADANAPALLE</a:t>
            </a:r>
          </a:p>
          <a:p>
            <a:pPr algn="ctr"/>
            <a:r>
              <a:rPr lang="en-US" sz="1600" b="1" dirty="0">
                <a:solidFill>
                  <a:schemeClr val="tx1"/>
                </a:solidFill>
                <a:latin typeface="Times New Roman" panose="02020603050405020304" pitchFamily="18" charset="0"/>
                <a:cs typeface="Times New Roman" panose="02020603050405020304" pitchFamily="18" charset="0"/>
              </a:rPr>
              <a:t>JAN 2026</a:t>
            </a:r>
          </a:p>
        </p:txBody>
      </p:sp>
      <p:pic>
        <p:nvPicPr>
          <p:cNvPr id="13" name="Picture 12">
            <a:extLst>
              <a:ext uri="{FF2B5EF4-FFF2-40B4-BE49-F238E27FC236}">
                <a16:creationId xmlns:a16="http://schemas.microsoft.com/office/drawing/2014/main" id="{27234A21-EE1C-50A7-9143-236B3C7F4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6226" y="3346357"/>
            <a:ext cx="1808414" cy="1702036"/>
          </a:xfrm>
          <a:prstGeom prst="rect">
            <a:avLst/>
          </a:prstGeom>
        </p:spPr>
      </p:pic>
      <p:sp>
        <p:nvSpPr>
          <p:cNvPr id="14" name="Rectangle 13">
            <a:extLst>
              <a:ext uri="{FF2B5EF4-FFF2-40B4-BE49-F238E27FC236}">
                <a16:creationId xmlns:a16="http://schemas.microsoft.com/office/drawing/2014/main" id="{A61CC406-9229-F1D4-7D33-BAE08768E98C}"/>
              </a:ext>
            </a:extLst>
          </p:cNvPr>
          <p:cNvSpPr/>
          <p:nvPr/>
        </p:nvSpPr>
        <p:spPr>
          <a:xfrm>
            <a:off x="7261537" y="3627129"/>
            <a:ext cx="4659006" cy="180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Submitted by</a:t>
            </a:r>
          </a:p>
          <a:p>
            <a:pPr algn="ctr"/>
            <a:r>
              <a:rPr lang="en-US" b="1" dirty="0">
                <a:solidFill>
                  <a:schemeClr val="tx1"/>
                </a:solidFill>
                <a:latin typeface="Times New Roman" panose="02020603050405020304" pitchFamily="18" charset="0"/>
                <a:cs typeface="Times New Roman" panose="02020603050405020304" pitchFamily="18" charset="0"/>
              </a:rPr>
              <a:t>Batch No: </a:t>
            </a:r>
            <a:r>
              <a:rPr lang="en-US" b="1" dirty="0">
                <a:solidFill>
                  <a:srgbClr val="FF0000"/>
                </a:solidFill>
                <a:latin typeface="Times New Roman" panose="02020603050405020304" pitchFamily="18" charset="0"/>
                <a:cs typeface="Times New Roman" panose="02020603050405020304" pitchFamily="18" charset="0"/>
              </a:rPr>
              <a:t>C5</a:t>
            </a:r>
          </a:p>
          <a:p>
            <a:pPr algn="ctr"/>
            <a:r>
              <a:rPr lang="en-US" dirty="0">
                <a:solidFill>
                  <a:srgbClr val="FF0000"/>
                </a:solidFill>
                <a:latin typeface="Times New Roman" panose="02020603050405020304" pitchFamily="18" charset="0"/>
                <a:cs typeface="Times New Roman" panose="02020603050405020304" pitchFamily="18" charset="0"/>
              </a:rPr>
              <a:t>22691A31E5 – SAI RAM REDDY A V</a:t>
            </a:r>
          </a:p>
          <a:p>
            <a:pPr algn="ctr"/>
            <a:r>
              <a:rPr lang="en-US" dirty="0">
                <a:solidFill>
                  <a:srgbClr val="FF0000"/>
                </a:solidFill>
                <a:latin typeface="Times New Roman" panose="02020603050405020304" pitchFamily="18" charset="0"/>
                <a:cs typeface="Times New Roman" panose="02020603050405020304" pitchFamily="18" charset="0"/>
              </a:rPr>
              <a:t>21691A31F8 – SURAKSHAN C</a:t>
            </a:r>
          </a:p>
          <a:p>
            <a:pPr algn="ctr"/>
            <a:r>
              <a:rPr lang="en-US" dirty="0">
                <a:solidFill>
                  <a:srgbClr val="FF0000"/>
                </a:solidFill>
                <a:latin typeface="Times New Roman" panose="02020603050405020304" pitchFamily="18" charset="0"/>
                <a:cs typeface="Times New Roman" panose="02020603050405020304" pitchFamily="18" charset="0"/>
              </a:rPr>
              <a:t>22691A31D6 – ROSHITHA P</a:t>
            </a:r>
          </a:p>
          <a:p>
            <a:pPr algn="ctr"/>
            <a:r>
              <a:rPr lang="en-US" dirty="0">
                <a:solidFill>
                  <a:srgbClr val="FF0000"/>
                </a:solidFill>
                <a:latin typeface="Times New Roman" panose="02020603050405020304" pitchFamily="18" charset="0"/>
                <a:cs typeface="Times New Roman" panose="02020603050405020304" pitchFamily="18" charset="0"/>
              </a:rPr>
              <a:t>22691A31E4 – SAI MEDHA K</a:t>
            </a:r>
          </a:p>
          <a:p>
            <a:pPr algn="ctr"/>
            <a:r>
              <a:rPr lang="en-US" dirty="0">
                <a:solidFill>
                  <a:srgbClr val="FF0000"/>
                </a:solidFill>
                <a:latin typeface="Times New Roman" panose="02020603050405020304" pitchFamily="18" charset="0"/>
                <a:cs typeface="Times New Roman" panose="02020603050405020304" pitchFamily="18" charset="0"/>
              </a:rPr>
              <a:t>22691A31I4 – VIGNESH REDDY S</a:t>
            </a:r>
          </a:p>
        </p:txBody>
      </p:sp>
    </p:spTree>
    <p:extLst>
      <p:ext uri="{BB962C8B-B14F-4D97-AF65-F5344CB8AC3E}">
        <p14:creationId xmlns:p14="http://schemas.microsoft.com/office/powerpoint/2010/main" val="826510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2</a:t>
            </a:fld>
            <a:endParaRPr lang="en-US"/>
          </a:p>
        </p:txBody>
      </p:sp>
      <p:sp>
        <p:nvSpPr>
          <p:cNvPr id="6" name="Rectangle 5"/>
          <p:cNvSpPr/>
          <p:nvPr/>
        </p:nvSpPr>
        <p:spPr>
          <a:xfrm>
            <a:off x="645671" y="2988129"/>
            <a:ext cx="10529888" cy="33475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Abstract and Keywords</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Introduction</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Literature Survey</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Summary Table</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Objectives of Proposed Work</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System requirements</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Dataset summary</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Functional Modules</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Proposed Architecture</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Proposed Algorithm</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Implementation (Source code)</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References</a:t>
            </a: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393827" y="136525"/>
            <a:ext cx="9798173"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cs typeface="Times New Roman" panose="02020603050405020304" pitchFamily="18" charset="0"/>
              </a:rPr>
              <a:t>Title: </a:t>
            </a:r>
            <a:r>
              <a:rPr lang="en-US" sz="2000" kern="1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r>
              <a:rPr lang="en-US" sz="20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Agenda</a:t>
            </a:r>
          </a:p>
        </p:txBody>
      </p:sp>
    </p:spTree>
    <p:extLst>
      <p:ext uri="{BB962C8B-B14F-4D97-AF65-F5344CB8AC3E}">
        <p14:creationId xmlns:p14="http://schemas.microsoft.com/office/powerpoint/2010/main" val="1888163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3</a:t>
            </a:fld>
            <a:endParaRPr lang="en-US"/>
          </a:p>
        </p:txBody>
      </p:sp>
      <p:sp>
        <p:nvSpPr>
          <p:cNvPr id="6" name="Rectangle 5"/>
          <p:cNvSpPr/>
          <p:nvPr/>
        </p:nvSpPr>
        <p:spPr>
          <a:xfrm>
            <a:off x="142240" y="585684"/>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477729" y="142815"/>
            <a:ext cx="9572032"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Abstract and Keywords</a:t>
            </a:r>
          </a:p>
        </p:txBody>
      </p:sp>
      <p:sp>
        <p:nvSpPr>
          <p:cNvPr id="9" name="Rectangle 8">
            <a:extLst>
              <a:ext uri="{FF2B5EF4-FFF2-40B4-BE49-F238E27FC236}">
                <a16:creationId xmlns:a16="http://schemas.microsoft.com/office/drawing/2014/main" id="{12638B76-DA39-5772-19FE-58888AE63B08}"/>
              </a:ext>
            </a:extLst>
          </p:cNvPr>
          <p:cNvSpPr/>
          <p:nvPr/>
        </p:nvSpPr>
        <p:spPr>
          <a:xfrm>
            <a:off x="365760" y="1381760"/>
            <a:ext cx="11180569" cy="4876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just">
              <a:lnSpc>
                <a:spcPct val="107000"/>
              </a:lnSpc>
              <a:spcAft>
                <a:spcPts val="800"/>
              </a:spcAft>
            </a:pPr>
            <a:r>
              <a:rPr lang="en-US" sz="1600" dirty="0">
                <a:solidFill>
                  <a:schemeClr val="tx1"/>
                </a:solidFill>
                <a:latin typeface="Times New Roman" panose="02020603050405020304" pitchFamily="18" charset="0"/>
                <a:cs typeface="Times New Roman" panose="02020603050405020304" pitchFamily="18" charset="0"/>
              </a:rPr>
              <a:t>Recent advances in large language models have enabled powerful question answering systems. Motivated by recent research trends in RAG, a lightweight Retrieval-Augmented Generation (RAG) system designed for campus-level academic question answering under low-resource constraints. The framework uses structured college data stored in JSON format, which is directly chunked without recursive splitting and embedded using the Sentence-Transformers all-MiniLM-L6-v2 model. Semantic retrieval is performed via a FAISS IndexFlatL2 vector index with top-k nearest-neighbor search. Retrieved text chunks are concatenated to form a grounded context, which is passed to a Flan-T5-XL sequence-to-sequence model for answer generation using a controlled prompt that restricts responses strictly to retrieved content. The system follows a deterministic retrieve-then-generate pipeline, prioritizing factual grounding and minimizing hallucination. </a:t>
            </a:r>
            <a:r>
              <a:rPr lang="en-US" sz="1600" dirty="0" err="1">
                <a:solidFill>
                  <a:schemeClr val="tx1"/>
                </a:solidFill>
                <a:latin typeface="Times New Roman" panose="02020603050405020304" pitchFamily="18" charset="0"/>
                <a:cs typeface="Times New Roman" panose="02020603050405020304" pitchFamily="18" charset="0"/>
              </a:rPr>
              <a:t>EduRAG</a:t>
            </a:r>
            <a:r>
              <a:rPr lang="en-US" sz="1600" dirty="0">
                <a:solidFill>
                  <a:schemeClr val="tx1"/>
                </a:solidFill>
                <a:latin typeface="Times New Roman" panose="02020603050405020304" pitchFamily="18" charset="0"/>
                <a:cs typeface="Times New Roman" panose="02020603050405020304" pitchFamily="18" charset="0"/>
              </a:rPr>
              <a:t> is fully CPU-compatible, modular, and optimized for small-scale academic deployments such as college information assistants, demonstrating an effective balance between accuracy, simplicity, and computational efficiency</a:t>
            </a:r>
          </a:p>
          <a:p>
            <a:pPr indent="457200" algn="just">
              <a:lnSpc>
                <a:spcPct val="107000"/>
              </a:lnSpc>
              <a:spcAft>
                <a:spcPts val="800"/>
              </a:spcAft>
            </a:pPr>
            <a:r>
              <a:rPr lang="en-IN" sz="1600" b="1"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1600"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Retrieval-Augmented Generation, Academic Question Answering, Lightweight RAG, Knowledge Retrieval, Hallucination Reduction, </a:t>
            </a:r>
            <a:r>
              <a:rPr lang="en-US" sz="1600"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Educational</a:t>
            </a:r>
            <a:r>
              <a:rPr lang="en-US" sz="1600" dirty="0" err="1"/>
              <a:t>Generation</a:t>
            </a:r>
            <a:r>
              <a:rPr lang="en-US" sz="1600" dirty="0"/>
              <a:t>, Academic Question Answering, Lightweight RAG, Knowledge Retrieval, Hallucination Reduction, Educational AI</a:t>
            </a:r>
            <a:endParaRPr lang="en-IN"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040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4</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497393" y="142814"/>
            <a:ext cx="955236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Introduction</a:t>
            </a:r>
          </a:p>
        </p:txBody>
      </p:sp>
      <p:sp>
        <p:nvSpPr>
          <p:cNvPr id="8" name="Rectangle 7">
            <a:extLst>
              <a:ext uri="{FF2B5EF4-FFF2-40B4-BE49-F238E27FC236}">
                <a16:creationId xmlns:a16="http://schemas.microsoft.com/office/drawing/2014/main" id="{A474F93A-522B-9A3E-05D4-A4B0AEA70329}"/>
              </a:ext>
            </a:extLst>
          </p:cNvPr>
          <p:cNvSpPr/>
          <p:nvPr/>
        </p:nvSpPr>
        <p:spPr>
          <a:xfrm>
            <a:off x="365760" y="1381760"/>
            <a:ext cx="11180569" cy="4876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just">
              <a:lnSpc>
                <a:spcPct val="107000"/>
              </a:lnSpc>
              <a:spcAft>
                <a:spcPts val="800"/>
              </a:spcAft>
            </a:pPr>
            <a:r>
              <a:rPr lang="en-US" sz="1700"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1.1 Introduction to domain</a:t>
            </a:r>
          </a:p>
          <a:p>
            <a:pPr indent="457200" algn="just">
              <a:lnSpc>
                <a:spcPct val="107000"/>
              </a:lnSpc>
              <a:spcAft>
                <a:spcPts val="800"/>
              </a:spcAft>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Educational institutions generate large volumes of structured and unstructured information related to courses, departments, facilities, academic rules, and campus events. Accessing this information through traditional keyword-based search or static web pages is often inefficient and time-consuming for students and faculty.</a:t>
            </a:r>
          </a:p>
          <a:p>
            <a:pPr indent="457200" algn="just">
              <a:lnSpc>
                <a:spcPct val="107000"/>
              </a:lnSpc>
              <a:spcAft>
                <a:spcPts val="800"/>
              </a:spcAft>
            </a:pPr>
            <a:r>
              <a:rPr lang="en-US" sz="17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is a lightweight Retrieval-Augmented Generation (RAG)–based academic question answering system designed to provide accurate, context-aware responses to campus-related queries. The system operates by first retrieving the most relevant information from a structured college knowledge base using semantic similarity search, and then generating natural language answers strictly grounded in the retrieved content.</a:t>
            </a:r>
          </a:p>
          <a:p>
            <a:pPr indent="457200" algn="just">
              <a:lnSpc>
                <a:spcPct val="107000"/>
              </a:lnSpc>
              <a:spcAft>
                <a:spcPts val="800"/>
              </a:spcAft>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framework follows a retrieve-then-generate pipeline, where college data is embedded into a vector space, indexed using FAISS, and queried using dense semantic retrieval. Retrieved document chunks are supplied as context to a large language model, ensuring that generated answers remain factual and limited to verified institutional data.</a:t>
            </a:r>
          </a:p>
          <a:p>
            <a:pPr indent="457200" algn="just">
              <a:lnSpc>
                <a:spcPct val="107000"/>
              </a:lnSpc>
              <a:spcAft>
                <a:spcPts val="800"/>
              </a:spcAft>
            </a:pPr>
            <a:r>
              <a:rPr lang="en-US" sz="17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is optimized for CPU-based execution, modular design, and ease of deployment, making it suitable for small-scale academic environments such as college information assistants, internal help desks, and campus chatbots. The project demonstrates how retrieval-augmented generation can effectively reduce hallucination while improving response relevance in educational applications.</a:t>
            </a:r>
          </a:p>
        </p:txBody>
      </p:sp>
    </p:spTree>
    <p:extLst>
      <p:ext uri="{BB962C8B-B14F-4D97-AF65-F5344CB8AC3E}">
        <p14:creationId xmlns:p14="http://schemas.microsoft.com/office/powerpoint/2010/main" val="237164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8E6D-08DE-2D7E-21B7-2CC09892A3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483838-F6DB-ED19-1D08-349C59309C08}"/>
              </a:ext>
            </a:extLst>
          </p:cNvPr>
          <p:cNvSpPr>
            <a:spLocks noGrp="1"/>
          </p:cNvSpPr>
          <p:nvPr>
            <p:ph type="sldNum" sz="quarter" idx="12"/>
          </p:nvPr>
        </p:nvSpPr>
        <p:spPr/>
        <p:txBody>
          <a:bodyPr/>
          <a:lstStyle/>
          <a:p>
            <a:fld id="{4686429B-0C83-44A8-A512-A863E50B6902}" type="slidenum">
              <a:rPr lang="en-US" smtClean="0"/>
              <a:t>5</a:t>
            </a:fld>
            <a:endParaRPr lang="en-US"/>
          </a:p>
        </p:txBody>
      </p:sp>
      <p:sp>
        <p:nvSpPr>
          <p:cNvPr id="6" name="Rectangle 5">
            <a:extLst>
              <a:ext uri="{FF2B5EF4-FFF2-40B4-BE49-F238E27FC236}">
                <a16:creationId xmlns:a16="http://schemas.microsoft.com/office/drawing/2014/main" id="{F634D023-6F23-54F5-AABF-7CF8718AD4BC}"/>
              </a:ext>
            </a:extLst>
          </p:cNvPr>
          <p:cNvSpPr/>
          <p:nvPr/>
        </p:nvSpPr>
        <p:spPr>
          <a:xfrm>
            <a:off x="645671" y="522287"/>
            <a:ext cx="10529888" cy="549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BD2787E-828D-02E8-78E3-6F3BD1D1E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A9C50FB6-9BCD-3F46-EB94-6C6FBDB37724}"/>
              </a:ext>
            </a:extLst>
          </p:cNvPr>
          <p:cNvSpPr txBox="1"/>
          <p:nvPr/>
        </p:nvSpPr>
        <p:spPr>
          <a:xfrm>
            <a:off x="2507225" y="142815"/>
            <a:ext cx="9542535"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1880FA9-BDAC-308D-E82A-EB50D7EB03B8}"/>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Introduction</a:t>
            </a:r>
          </a:p>
        </p:txBody>
      </p:sp>
      <p:sp>
        <p:nvSpPr>
          <p:cNvPr id="8" name="Rectangle 7">
            <a:extLst>
              <a:ext uri="{FF2B5EF4-FFF2-40B4-BE49-F238E27FC236}">
                <a16:creationId xmlns:a16="http://schemas.microsoft.com/office/drawing/2014/main" id="{06CA46C5-4665-BFE7-340E-0F10F3C3F250}"/>
              </a:ext>
            </a:extLst>
          </p:cNvPr>
          <p:cNvSpPr/>
          <p:nvPr/>
        </p:nvSpPr>
        <p:spPr>
          <a:xfrm>
            <a:off x="365760" y="1465006"/>
            <a:ext cx="11180569" cy="43950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just">
              <a:lnSpc>
                <a:spcPct val="107000"/>
              </a:lnSpc>
              <a:spcAft>
                <a:spcPts val="800"/>
              </a:spcAft>
            </a:pPr>
            <a:r>
              <a:rPr lang="en-US" sz="1700"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1.2 Introduction to Technology</a:t>
            </a:r>
          </a:p>
          <a:p>
            <a:pPr indent="457200" algn="just">
              <a:lnSpc>
                <a:spcPct val="107000"/>
              </a:lnSpc>
              <a:spcAft>
                <a:spcPts val="800"/>
              </a:spcAft>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proposed solution uses Retrieval-Augmented Generation (RAG), a technology that combines information retrieval with natural language generation. In RAG, user queries are first matched with relevant documents using vector embeddings and similarity search. The retrieved academic content is then provided to a language model to generate answers strictly based on those sources. This approach reduces hallucination and improves factual grounding. </a:t>
            </a:r>
            <a:r>
              <a:rPr lang="en-US" sz="17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enhances this idea by using lightweight embedding models, efficient vector indexing, and optimized prompts to reduce computational cost. The system is designed to run on limited hardware while still providing accurate, source-backed academic question answering.</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No lightweight RAG for education - existing systems too complex/expensive</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Static knowledge bases - can't adapt to evolving curricular</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Missing education-specific evaluation - no metrics for learning outcomes</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Limited accessibility - high computational requirements exclude smaller institutions</a:t>
            </a:r>
          </a:p>
        </p:txBody>
      </p:sp>
    </p:spTree>
    <p:extLst>
      <p:ext uri="{BB962C8B-B14F-4D97-AF65-F5344CB8AC3E}">
        <p14:creationId xmlns:p14="http://schemas.microsoft.com/office/powerpoint/2010/main" val="1754799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72037-915C-5005-5986-13DF2E8C0E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A779D5-EE88-858B-6C5D-8A9F8DE5A130}"/>
              </a:ext>
            </a:extLst>
          </p:cNvPr>
          <p:cNvSpPr>
            <a:spLocks noGrp="1"/>
          </p:cNvSpPr>
          <p:nvPr>
            <p:ph type="sldNum" sz="quarter" idx="12"/>
          </p:nvPr>
        </p:nvSpPr>
        <p:spPr/>
        <p:txBody>
          <a:bodyPr/>
          <a:lstStyle/>
          <a:p>
            <a:fld id="{4686429B-0C83-44A8-A512-A863E50B6902}" type="slidenum">
              <a:rPr lang="en-US" smtClean="0"/>
              <a:t>6</a:t>
            </a:fld>
            <a:endParaRPr lang="en-US"/>
          </a:p>
        </p:txBody>
      </p:sp>
      <p:sp>
        <p:nvSpPr>
          <p:cNvPr id="6" name="Rectangle 5">
            <a:extLst>
              <a:ext uri="{FF2B5EF4-FFF2-40B4-BE49-F238E27FC236}">
                <a16:creationId xmlns:a16="http://schemas.microsoft.com/office/drawing/2014/main" id="{01077EB8-73E8-3781-067C-397432F2A593}"/>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569A035-8023-4E6A-1908-41D2263794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69548964-8DE1-48B0-6D7D-5B593492914A}"/>
              </a:ext>
            </a:extLst>
          </p:cNvPr>
          <p:cNvSpPr txBox="1"/>
          <p:nvPr/>
        </p:nvSpPr>
        <p:spPr>
          <a:xfrm>
            <a:off x="2458065" y="142815"/>
            <a:ext cx="9591696"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6FD2BEE-2FCE-4DCC-38DF-A69E1CD9A544}"/>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Introduction</a:t>
            </a:r>
          </a:p>
        </p:txBody>
      </p:sp>
      <p:sp>
        <p:nvSpPr>
          <p:cNvPr id="8" name="Rectangle 7">
            <a:extLst>
              <a:ext uri="{FF2B5EF4-FFF2-40B4-BE49-F238E27FC236}">
                <a16:creationId xmlns:a16="http://schemas.microsoft.com/office/drawing/2014/main" id="{080805C9-3A07-05D2-4CDE-311E45903DFD}"/>
              </a:ext>
            </a:extLst>
          </p:cNvPr>
          <p:cNvSpPr/>
          <p:nvPr/>
        </p:nvSpPr>
        <p:spPr>
          <a:xfrm>
            <a:off x="1687077" y="5633402"/>
            <a:ext cx="8836508" cy="70231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ctr">
              <a:lnSpc>
                <a:spcPct val="107000"/>
              </a:lnSpc>
              <a:spcAft>
                <a:spcPts val="800"/>
              </a:spcAft>
            </a:pPr>
            <a:r>
              <a:rPr lang="en-US"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Global RAG market (2025): ~$1.9–2.0B and projected to $9.9B by 2030 (~38–49 % CAGR)</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hlinkClick r:id="rId4"/>
              </a:rPr>
              <a:t>Click Here</a:t>
            </a:r>
            <a:endParaRPr lang="en-IN" kern="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780F2402-74FD-FD1E-4B49-E861EB639AC4}"/>
              </a:ext>
            </a:extLst>
          </p:cNvPr>
          <p:cNvPicPr>
            <a:picLocks noChangeAspect="1"/>
          </p:cNvPicPr>
          <p:nvPr/>
        </p:nvPicPr>
        <p:blipFill>
          <a:blip r:embed="rId5"/>
          <a:stretch>
            <a:fillRect/>
          </a:stretch>
        </p:blipFill>
        <p:spPr>
          <a:xfrm>
            <a:off x="160902" y="1232426"/>
            <a:ext cx="11888859" cy="4239217"/>
          </a:xfrm>
          <a:prstGeom prst="rect">
            <a:avLst/>
          </a:prstGeom>
        </p:spPr>
      </p:pic>
    </p:spTree>
    <p:extLst>
      <p:ext uri="{BB962C8B-B14F-4D97-AF65-F5344CB8AC3E}">
        <p14:creationId xmlns:p14="http://schemas.microsoft.com/office/powerpoint/2010/main" val="434033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7</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556387" y="142815"/>
            <a:ext cx="949337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sp>
        <p:nvSpPr>
          <p:cNvPr id="8" name="Rectangle 7">
            <a:extLst>
              <a:ext uri="{FF2B5EF4-FFF2-40B4-BE49-F238E27FC236}">
                <a16:creationId xmlns:a16="http://schemas.microsoft.com/office/drawing/2014/main" id="{79D28C13-20BA-E893-0B62-9A4C703404BD}"/>
              </a:ext>
            </a:extLst>
          </p:cNvPr>
          <p:cNvSpPr/>
          <p:nvPr/>
        </p:nvSpPr>
        <p:spPr>
          <a:xfrm>
            <a:off x="320330" y="1381760"/>
            <a:ext cx="11180569" cy="4876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92075" algn="just">
              <a:lnSpc>
                <a:spcPct val="107000"/>
              </a:lnSpc>
              <a:spcAft>
                <a:spcPts val="800"/>
              </a:spcAft>
            </a:pPr>
            <a:r>
              <a:rPr lang="en-IN"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Base paper title: </a:t>
            </a:r>
            <a:r>
              <a:rPr lang="en-US" sz="2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Hybrid Retrieval-Augmented Generation Agent for Trustworthy   Legal Question Answering in Judicial Forensics</a:t>
            </a:r>
            <a:endParaRPr lang="en-IN" sz="24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20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Yueqing Xi et al., 2025</a:t>
            </a: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This paper proposes a hybrid RAG-based system for reliable legal question answering. The system first retrieves relevant legal documents using embeddings and FAISS; if similarity is high, answers are generated using RAG for factual grounding. If retrieval fails, multiple LLMs generate answers in parallel and a selector model ranks them based on correctness, legality, clarity, and faithfulness. High-quality answers are reviewed by humans and added back to the knowledge base for continuous updating. Tested on the </a:t>
            </a:r>
            <a:r>
              <a:rPr lang="en-US" sz="20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LawQA</a:t>
            </a:r>
            <a:r>
              <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dataset (16,182 QA pairs), the hybrid model outperformed standard LLM and RAG systems in F1, ROUGE-L, and LLM-as-a-Judge scores, significantly reducing hallucinations and improving legal reliability.</a:t>
            </a: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7726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8</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536723" y="142815"/>
            <a:ext cx="9513038"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2BC8748D-DA4F-FEF6-257C-6B492F5E4878}"/>
              </a:ext>
            </a:extLst>
          </p:cNvPr>
          <p:cNvGraphicFramePr>
            <a:graphicFrameLocks noGrp="1"/>
          </p:cNvGraphicFramePr>
          <p:nvPr>
            <p:extLst>
              <p:ext uri="{D42A27DB-BD31-4B8C-83A1-F6EECF244321}">
                <p14:modId xmlns:p14="http://schemas.microsoft.com/office/powerpoint/2010/main" val="3841674006"/>
              </p:ext>
            </p:extLst>
          </p:nvPr>
        </p:nvGraphicFramePr>
        <p:xfrm>
          <a:off x="142240" y="1379757"/>
          <a:ext cx="11907522" cy="5304811"/>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3">
                  <a:extLst>
                    <a:ext uri="{9D8B030D-6E8A-4147-A177-3AD203B41FA5}">
                      <a16:colId xmlns:a16="http://schemas.microsoft.com/office/drawing/2014/main" val="1814327878"/>
                    </a:ext>
                  </a:extLst>
                </a:gridCol>
              </a:tblGrid>
              <a:tr h="844015">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Limitation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340712">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a:t>
                      </a:r>
                    </a:p>
                  </a:txBody>
                  <a:tcPr marL="42431" marR="42431" marT="0" marB="0" anchor="ctr">
                    <a:solidFill>
                      <a:schemeClr val="bg1"/>
                    </a:solidFill>
                  </a:tcPr>
                </a:tc>
                <a:tc>
                  <a:txBody>
                    <a:bodyPr/>
                    <a:lstStyle/>
                    <a:p>
                      <a:pPr algn="ctr">
                        <a:lnSpc>
                          <a:spcPct val="107000"/>
                        </a:lnSpc>
                        <a:spcAft>
                          <a:spcPts val="800"/>
                        </a:spcAft>
                      </a:pPr>
                      <a:r>
                        <a:rPr lang="it-IT" sz="1400" dirty="0">
                          <a:latin typeface="Times New Roman" panose="02020603050405020304" pitchFamily="18" charset="0"/>
                          <a:cs typeface="Times New Roman" panose="02020603050405020304" pitchFamily="18" charset="0"/>
                        </a:rPr>
                        <a:t>Zongxi Li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Retrieval-Augmented Generation for Educational Application: A Systematic Survey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Systematic literature review of RAG-based educational systems; analysis of indexing, retrieval, and generation pipelines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BM25, Dense Passage Retrieval (DPR),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Web of Science, Google Scholar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Shows RAG significantly reduces hallucination, improves factual accuracy, supports dynamic knowledge updates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High cost and latency due to LLM APIs, limited multimodal support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449708">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Xiao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LightRAG</a:t>
                      </a:r>
                      <a:r>
                        <a:rPr lang="en-IN" sz="1400" dirty="0">
                          <a:latin typeface="Times New Roman" panose="02020603050405020304" pitchFamily="18" charset="0"/>
                          <a:cs typeface="Times New Roman" panose="02020603050405020304" pitchFamily="18" charset="0"/>
                        </a:rPr>
                        <a:t>: Simple and Fast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Graph-based RAG framework with dual-level retrieval and dynamic knowledge graph construction from text.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LM-based entity extraction, graph construction, low-level and high-level retrieval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Agriculture, Computer Science, Legal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Improves answer accuracy, diversity, and comprehension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Graph construction adds complexity; performance depends on quality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633936">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a:t>
                      </a: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Gamaiunova</a:t>
                      </a:r>
                      <a:r>
                        <a:rPr lang="en-IN" sz="1400" dirty="0">
                          <a:latin typeface="Times New Roman" panose="02020603050405020304" pitchFamily="18" charset="0"/>
                          <a:cs typeface="Times New Roman" panose="02020603050405020304" pitchFamily="18" charset="0"/>
                        </a:rPr>
                        <a:t> &amp; Sidorov,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Lightweight Retrieval-Augmented Generation System for Technical Support in Domain-Specific ERP Platforms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Build a lightweight RAG system for ERP technical support, </a:t>
                      </a:r>
                      <a:r>
                        <a:rPr lang="en-IN" sz="1400" dirty="0" err="1">
                          <a:latin typeface="Times New Roman" panose="02020603050405020304" pitchFamily="18" charset="0"/>
                          <a:cs typeface="Times New Roman" panose="02020603050405020304" pitchFamily="18" charset="0"/>
                        </a:rPr>
                        <a:t>LoRA</a:t>
                      </a:r>
                      <a:r>
                        <a:rPr lang="en-IN" sz="1400" dirty="0">
                          <a:latin typeface="Times New Roman" panose="02020603050405020304" pitchFamily="18" charset="0"/>
                          <a:cs typeface="Times New Roman" panose="02020603050405020304" pitchFamily="18" charset="0"/>
                        </a:rPr>
                        <a:t> fine-tuning, vector retrieval, and feedback loop</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DeepSeek-7B, </a:t>
                      </a:r>
                      <a:r>
                        <a:rPr lang="en-IN" sz="1400" dirty="0" err="1">
                          <a:latin typeface="Times New Roman" panose="02020603050405020304" pitchFamily="18" charset="0"/>
                          <a:cs typeface="Times New Roman" panose="02020603050405020304" pitchFamily="18" charset="0"/>
                        </a:rPr>
                        <a:t>LoRA</a:t>
                      </a:r>
                      <a:r>
                        <a:rPr lang="en-IN" sz="1400" dirty="0">
                          <a:latin typeface="Times New Roman" panose="02020603050405020304" pitchFamily="18" charset="0"/>
                          <a:cs typeface="Times New Roman" panose="02020603050405020304" pitchFamily="18" charset="0"/>
                        </a:rPr>
                        <a:t>, INT8 Quantization, Sentence-BERT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1000 domain-specific ERP Q&amp;A pairs, 200 test queries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EM = 86% (vs 72% without RAG), BLEU-2 = 0.78, Perplexity reduced from 36.1 to 5.2; 93% correct in expert review.</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Equires</a:t>
                      </a:r>
                      <a:r>
                        <a:rPr lang="en-US" sz="1400" dirty="0">
                          <a:latin typeface="Times New Roman" panose="02020603050405020304" pitchFamily="18" charset="0"/>
                          <a:cs typeface="Times New Roman" panose="02020603050405020304" pitchFamily="18" charset="0"/>
                        </a:rPr>
                        <a:t> domain-specific data collection and expert feedback; performance depends on quality of fine-tuning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1698114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B0E4-856D-10EF-AA9D-0EBB76D2CAD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04DB9-9A21-2172-C253-B6CBBD9C4040}"/>
              </a:ext>
            </a:extLst>
          </p:cNvPr>
          <p:cNvSpPr>
            <a:spLocks noGrp="1"/>
          </p:cNvSpPr>
          <p:nvPr>
            <p:ph type="sldNum" sz="quarter" idx="12"/>
          </p:nvPr>
        </p:nvSpPr>
        <p:spPr/>
        <p:txBody>
          <a:bodyPr/>
          <a:lstStyle/>
          <a:p>
            <a:fld id="{4686429B-0C83-44A8-A512-A863E50B6902}" type="slidenum">
              <a:rPr lang="en-US" smtClean="0"/>
              <a:t>9</a:t>
            </a:fld>
            <a:endParaRPr lang="en-US"/>
          </a:p>
        </p:txBody>
      </p:sp>
      <p:sp>
        <p:nvSpPr>
          <p:cNvPr id="6" name="Rectangle 5">
            <a:extLst>
              <a:ext uri="{FF2B5EF4-FFF2-40B4-BE49-F238E27FC236}">
                <a16:creationId xmlns:a16="http://schemas.microsoft.com/office/drawing/2014/main" id="{30D8D8C7-B401-E113-50BF-372E2766FC15}"/>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96DA602-C643-5F4E-FEE4-7B7C0AE929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A943AD10-D839-8827-38C9-305864273F87}"/>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229295E-2C93-1D8F-522F-7A3BEA007F6C}"/>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889A29DE-898B-8E77-ED91-20BC4C9F14F3}"/>
              </a:ext>
            </a:extLst>
          </p:cNvPr>
          <p:cNvGraphicFramePr>
            <a:graphicFrameLocks noGrp="1"/>
          </p:cNvGraphicFramePr>
          <p:nvPr>
            <p:extLst>
              <p:ext uri="{D42A27DB-BD31-4B8C-83A1-F6EECF244321}">
                <p14:modId xmlns:p14="http://schemas.microsoft.com/office/powerpoint/2010/main" val="2096593399"/>
              </p:ext>
            </p:extLst>
          </p:nvPr>
        </p:nvGraphicFramePr>
        <p:xfrm>
          <a:off x="142240" y="1379757"/>
          <a:ext cx="11907523" cy="5401762"/>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654146">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Tianyu Fan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MiniRAG</a:t>
                      </a:r>
                      <a:r>
                        <a:rPr lang="en-US" sz="1400" dirty="0">
                          <a:latin typeface="Times New Roman" panose="02020603050405020304" pitchFamily="18" charset="0"/>
                          <a:cs typeface="Times New Roman" panose="02020603050405020304" pitchFamily="18" charset="0"/>
                        </a:rPr>
                        <a:t>: Towards Extremely Simple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Design of a lightweight RAG using heterogeneous graph indexing (chunks + entities) and topology-based retrieval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Entity extraction, Heterogeneous Graph Indexing, Graph-based Retrieval, Cosine Similarity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LiHuaWorld</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MultiHop</a:t>
                      </a:r>
                      <a:r>
                        <a:rPr lang="en-US" sz="1400" dirty="0">
                          <a:latin typeface="Times New Roman" panose="02020603050405020304" pitchFamily="18" charset="0"/>
                          <a:cs typeface="Times New Roman" panose="02020603050405020304" pitchFamily="18" charset="0"/>
                        </a:rPr>
                        <a:t> Short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1.3–2.5× better than lightweight baselines with less  storage; robust SLMs (Phi-3.5, Qwen-3B).</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Graph construction adds preprocessing cost; designed mainly for on-device and short-document scenarios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819680">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Xu Ji et al., 2025</a:t>
                      </a:r>
                      <a:br>
                        <a:rPr lang="da-DK" sz="1400" dirty="0">
                          <a:latin typeface="Times New Roman" panose="02020603050405020304" pitchFamily="18" charset="0"/>
                          <a:cs typeface="Times New Roman" panose="02020603050405020304" pitchFamily="18" charset="0"/>
                        </a:rPr>
                      </a:b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RAP-RAG: A Retrieval-Augmented Generation Framework with Adaptive Retrieval Task Planning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Light-weight RAG using heterogeneous weighted graph indexing and an adaptive planner that selects retrieval strategy based on query complexity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Vector Retrieval, Local Retrieval, Dual Retrieval, Topology-Enhanced Retrieval, Graph Indexing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LiHua</a:t>
                      </a:r>
                      <a:r>
                        <a:rPr lang="en-IN" sz="1400" dirty="0">
                          <a:latin typeface="Times New Roman" panose="02020603050405020304" pitchFamily="18" charset="0"/>
                          <a:cs typeface="Times New Roman" panose="02020603050405020304" pitchFamily="18" charset="0"/>
                        </a:rPr>
                        <a:t>-World, </a:t>
                      </a:r>
                      <a:r>
                        <a:rPr lang="en-IN" sz="1400" dirty="0" err="1">
                          <a:latin typeface="Times New Roman" panose="02020603050405020304" pitchFamily="18" charset="0"/>
                          <a:cs typeface="Times New Roman" panose="02020603050405020304" pitchFamily="18" charset="0"/>
                        </a:rPr>
                        <a:t>MultiHop</a:t>
                      </a:r>
                      <a:r>
                        <a:rPr lang="en-IN" sz="1400" dirty="0">
                          <a:latin typeface="Times New Roman" panose="02020603050405020304" pitchFamily="18" charset="0"/>
                          <a:cs typeface="Times New Roman" panose="02020603050405020304" pitchFamily="18" charset="0"/>
                        </a:rPr>
                        <a:t>-RAG, Hybrid-</a:t>
                      </a:r>
                      <a:r>
                        <a:rPr lang="en-IN" sz="1400" dirty="0" err="1">
                          <a:latin typeface="Times New Roman" panose="02020603050405020304" pitchFamily="18" charset="0"/>
                          <a:cs typeface="Times New Roman" panose="02020603050405020304" pitchFamily="18" charset="0"/>
                        </a:rPr>
                        <a:t>SQuAD</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Achieves 3–5% higher accuracy than </a:t>
                      </a:r>
                      <a:r>
                        <a:rPr lang="en-US" sz="1400" dirty="0" err="1">
                          <a:latin typeface="Times New Roman" panose="02020603050405020304" pitchFamily="18" charset="0"/>
                          <a:cs typeface="Times New Roman" panose="02020603050405020304" pitchFamily="18" charset="0"/>
                        </a:rPr>
                        <a:t>MiniRAG</a:t>
                      </a:r>
                      <a:r>
                        <a:rPr lang="en-US" sz="1400" dirty="0">
                          <a:latin typeface="Times New Roman" panose="02020603050405020304" pitchFamily="18" charset="0"/>
                          <a:cs typeface="Times New Roman" panose="02020603050405020304" pitchFamily="18" charset="0"/>
                        </a:rPr>
                        <a:t>, maintains efficiency with ~15% lower storage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Adaptive planner adds slight latency, evaluated mainly on English datasets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a:t>
                      </a:r>
                    </a:p>
                  </a:txBody>
                  <a:tcPr marL="42431" marR="42431" marT="0" marB="0" anchor="ctr">
                    <a:solidFill>
                      <a:schemeClr val="bg1"/>
                    </a:solidFill>
                  </a:tcPr>
                </a:tc>
                <a:tc>
                  <a:txBody>
                    <a:bodyPr/>
                    <a:lstStyle/>
                    <a:p>
                      <a:pPr algn="ctr">
                        <a:lnSpc>
                          <a:spcPct val="107000"/>
                        </a:lnSpc>
                        <a:spcAft>
                          <a:spcPts val="800"/>
                        </a:spcAft>
                      </a:pPr>
                      <a:r>
                        <a:rPr lang="fr-FR" sz="1400" dirty="0">
                          <a:latin typeface="Times New Roman" panose="02020603050405020304" pitchFamily="18" charset="0"/>
                          <a:cs typeface="Times New Roman" panose="02020603050405020304" pitchFamily="18" charset="0"/>
                        </a:rPr>
                        <a:t>Chia-Yuan Chang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MAIN-RAG: Multi-Agent Filtering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Multi-agent RAG framework where multiple specialized retrievers generate candidate contexts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Multi-Agent Retrieval,  FAISS, Filtering Module, Cosine Similarity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HotpotQA</a:t>
                      </a:r>
                      <a:r>
                        <a:rPr lang="en-IN" sz="1400" dirty="0">
                          <a:latin typeface="Times New Roman" panose="02020603050405020304" pitchFamily="18" charset="0"/>
                          <a:cs typeface="Times New Roman" panose="02020603050405020304" pitchFamily="18" charset="0"/>
                        </a:rPr>
                        <a:t>, Natural Questions, </a:t>
                      </a:r>
                      <a:r>
                        <a:rPr lang="en-IN" sz="1400" dirty="0" err="1">
                          <a:latin typeface="Times New Roman" panose="02020603050405020304" pitchFamily="18" charset="0"/>
                          <a:cs typeface="Times New Roman" panose="02020603050405020304" pitchFamily="18" charset="0"/>
                        </a:rPr>
                        <a:t>WikiQA</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Improves answer relevance and factual correctness over standard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Higher computational cost due to multiple retrievers and filter agents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2201825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7CDFD-867A-F557-1C84-A8014F82979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A44EBA-EF96-D548-4AD1-36839B4E7880}"/>
              </a:ext>
            </a:extLst>
          </p:cNvPr>
          <p:cNvSpPr>
            <a:spLocks noGrp="1"/>
          </p:cNvSpPr>
          <p:nvPr>
            <p:ph type="sldNum" sz="quarter" idx="12"/>
          </p:nvPr>
        </p:nvSpPr>
        <p:spPr/>
        <p:txBody>
          <a:bodyPr/>
          <a:lstStyle/>
          <a:p>
            <a:fld id="{4686429B-0C83-44A8-A512-A863E50B6902}" type="slidenum">
              <a:rPr lang="en-US" smtClean="0"/>
              <a:t>10</a:t>
            </a:fld>
            <a:endParaRPr lang="en-US"/>
          </a:p>
        </p:txBody>
      </p:sp>
      <p:sp>
        <p:nvSpPr>
          <p:cNvPr id="6" name="Rectangle 5">
            <a:extLst>
              <a:ext uri="{FF2B5EF4-FFF2-40B4-BE49-F238E27FC236}">
                <a16:creationId xmlns:a16="http://schemas.microsoft.com/office/drawing/2014/main" id="{926E5DDA-47A5-2730-0635-B2C64B124BBB}"/>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3E0D01F-6D45-3128-9DF9-65FFE29F3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A3529D94-D2F8-13B5-845E-5DD0764FB2A8}"/>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97D99A3-591D-1482-D1DE-B215B8681D60}"/>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A5A78DA1-0ADA-6DF1-EBC4-DCB2FD4A3BA3}"/>
              </a:ext>
            </a:extLst>
          </p:cNvPr>
          <p:cNvGraphicFramePr>
            <a:graphicFrameLocks noGrp="1"/>
          </p:cNvGraphicFramePr>
          <p:nvPr>
            <p:extLst>
              <p:ext uri="{D42A27DB-BD31-4B8C-83A1-F6EECF244321}">
                <p14:modId xmlns:p14="http://schemas.microsoft.com/office/powerpoint/2010/main" val="166251446"/>
              </p:ext>
            </p:extLst>
          </p:nvPr>
        </p:nvGraphicFramePr>
        <p:xfrm>
          <a:off x="142240" y="1379757"/>
          <a:ext cx="11907523" cy="5173644"/>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654146">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Mohammad Aghajani Asl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FAIR-RAG: Faithful Adaptive Iterative Refinement for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Introduces an iterative refinement cycle that detects information gaps and dynamically issues sub-queries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Structured Evidence Assessment, Adaptive Query Refinement, Iterative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HotpotQA</a:t>
                      </a:r>
                      <a:r>
                        <a:rPr lang="en-IN" sz="1400" dirty="0">
                          <a:latin typeface="Times New Roman" panose="02020603050405020304" pitchFamily="18" charset="0"/>
                          <a:cs typeface="Times New Roman" panose="02020603050405020304" pitchFamily="18" charset="0"/>
                        </a:rPr>
                        <a:t>, 2WikiMultiHopQA, </a:t>
                      </a:r>
                      <a:r>
                        <a:rPr lang="en-IN" sz="1400" dirty="0" err="1">
                          <a:latin typeface="Times New Roman" panose="02020603050405020304" pitchFamily="18" charset="0"/>
                          <a:cs typeface="Times New Roman" panose="02020603050405020304" pitchFamily="18" charset="0"/>
                        </a:rPr>
                        <a:t>MusiQue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Significant F1 improvement over iterative baselines; more complete context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Increased inference latency due to iterative refinement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665794">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Jintao Zhang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SAGE: A Framework of Precise Retrieval for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Semantic segmentation of corpus into semantically complete chunks and dynamic selection of context using relevance decay analysis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Semantic Segmentation Model, Dynamic Chunk Selection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Custom QA corpora (semantic segments) &amp; benchmark tasks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Improves QA accuracy and reduces retrieval noise; reduces token cost in inference.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Requires pretrained segmentation model and extra retrieval overhead</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a:t>
                      </a:r>
                    </a:p>
                  </a:txBody>
                  <a:tcPr marL="42431" marR="42431" marT="0" marB="0" anchor="ctr">
                    <a:solidFill>
                      <a:schemeClr val="bg1"/>
                    </a:solidFill>
                  </a:tcPr>
                </a:tc>
                <a:tc>
                  <a:txBody>
                    <a:bodyPr/>
                    <a:lstStyle/>
                    <a:p>
                      <a:pPr algn="ctr">
                        <a:lnSpc>
                          <a:spcPct val="107000"/>
                        </a:lnSpc>
                        <a:spcAft>
                          <a:spcPts val="800"/>
                        </a:spcAft>
                      </a:pPr>
                      <a:r>
                        <a:rPr lang="it-IT" sz="1400" dirty="0">
                          <a:latin typeface="Times New Roman" panose="02020603050405020304" pitchFamily="18" charset="0"/>
                          <a:cs typeface="Times New Roman" panose="02020603050405020304" pitchFamily="18" charset="0"/>
                        </a:rPr>
                        <a:t>Jiawei Zhou &amp; Lei Chen,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OpenRAG: Optimizing RAG End-to-End via In-Context Retrieval Learning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End-to-end training of the retriever tuned for in-context relevance rather than generic IR relevance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End-to-end Retriever Optimization, In-Context Learning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Standard QA and RAG benchmarks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~4% consistent QA accuracy improvement; small retriever models outperform larger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Requires retriever fine-tuning with specific RAG tasks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3523987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DEE8-8954-ECBA-8752-DC6F2FC7E6D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BE8B2C-23B6-7880-88C6-A860239BABA7}"/>
              </a:ext>
            </a:extLst>
          </p:cNvPr>
          <p:cNvSpPr>
            <a:spLocks noGrp="1"/>
          </p:cNvSpPr>
          <p:nvPr>
            <p:ph type="sldNum" sz="quarter" idx="12"/>
          </p:nvPr>
        </p:nvSpPr>
        <p:spPr/>
        <p:txBody>
          <a:bodyPr/>
          <a:lstStyle/>
          <a:p>
            <a:fld id="{4686429B-0C83-44A8-A512-A863E50B6902}" type="slidenum">
              <a:rPr lang="en-US" smtClean="0"/>
              <a:t>11</a:t>
            </a:fld>
            <a:endParaRPr lang="en-US"/>
          </a:p>
        </p:txBody>
      </p:sp>
      <p:sp>
        <p:nvSpPr>
          <p:cNvPr id="6" name="Rectangle 5">
            <a:extLst>
              <a:ext uri="{FF2B5EF4-FFF2-40B4-BE49-F238E27FC236}">
                <a16:creationId xmlns:a16="http://schemas.microsoft.com/office/drawing/2014/main" id="{52F5F08F-DE08-A244-543C-23FDA3CFE71C}"/>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1751FA0-61C4-413B-F452-E85F4149EC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7DC8F97D-E037-A6BE-B5BB-412BA819D58B}"/>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B62AE6BC-3B37-EC08-78F2-DA122F1BF5D1}"/>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3643701D-0789-A417-FDB2-C035553F3C18}"/>
              </a:ext>
            </a:extLst>
          </p:cNvPr>
          <p:cNvGraphicFramePr>
            <a:graphicFrameLocks noGrp="1"/>
          </p:cNvGraphicFramePr>
          <p:nvPr>
            <p:extLst>
              <p:ext uri="{D42A27DB-BD31-4B8C-83A1-F6EECF244321}">
                <p14:modId xmlns:p14="http://schemas.microsoft.com/office/powerpoint/2010/main" val="1602091736"/>
              </p:ext>
            </p:extLst>
          </p:nvPr>
        </p:nvGraphicFramePr>
        <p:xfrm>
          <a:off x="142240" y="1379757"/>
          <a:ext cx="11907523" cy="5178903"/>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654146">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Peiru Yang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HeteRAG</a:t>
                      </a:r>
                      <a:r>
                        <a:rPr lang="en-US" sz="1400" dirty="0">
                          <a:latin typeface="Times New Roman" panose="02020603050405020304" pitchFamily="18" charset="0"/>
                          <a:cs typeface="Times New Roman" panose="02020603050405020304" pitchFamily="18" charset="0"/>
                        </a:rPr>
                        <a:t>: A Heterogeneous RAG Framework with Decoupled Knowledge Representations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Decouples knowledge representation for retrieval vs generation; uses short chunks for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Dual Representation Embedding, Adaptive Prompt Tuning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QA benchmarks &amp; document corpora</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Improves both retrieval accuracy and generation efficiency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Complexity in managing dual representations and tuning prompt strategies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819680">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11</a:t>
                      </a:r>
                    </a:p>
                  </a:txBody>
                  <a:tcPr marL="42431" marR="42431" marT="0" marB="0" anchor="ctr">
                    <a:solidFill>
                      <a:schemeClr val="bg1"/>
                    </a:solidFill>
                  </a:tcPr>
                </a:tc>
                <a:tc>
                  <a:txBody>
                    <a:bodyPr/>
                    <a:lstStyle/>
                    <a:p>
                      <a:pPr algn="ctr">
                        <a:lnSpc>
                          <a:spcPct val="107000"/>
                        </a:lnSpc>
                        <a:spcAft>
                          <a:spcPts val="800"/>
                        </a:spcAft>
                      </a:pPr>
                      <a:r>
                        <a:rPr lang="de-DE" sz="1400" dirty="0">
                          <a:latin typeface="Times New Roman" panose="02020603050405020304" pitchFamily="18" charset="0"/>
                          <a:cs typeface="Times New Roman" panose="02020603050405020304" pitchFamily="18" charset="0"/>
                        </a:rPr>
                        <a:t>Daniel Huwiler, Kurt Stockinger &amp; Jonathan Fürst,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VersionRAG</a:t>
                      </a:r>
                      <a:r>
                        <a:rPr lang="en-US" sz="1400" dirty="0">
                          <a:latin typeface="Times New Roman" panose="02020603050405020304" pitchFamily="18" charset="0"/>
                          <a:cs typeface="Times New Roman" panose="02020603050405020304" pitchFamily="18" charset="0"/>
                        </a:rPr>
                        <a:t>: Version-Aware Retrieval-Augmented Generation for Evolving Documents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Version-aware RAG that models document evolution via a hierarchical graph to handle changing technical documentation.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Version graphs, Hierarchical Retrieval, Intent Classification, Vector Filtering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VersionQA</a:t>
                      </a:r>
                      <a:r>
                        <a:rPr lang="en-US" sz="1400" dirty="0">
                          <a:latin typeface="Times New Roman" panose="02020603050405020304" pitchFamily="18" charset="0"/>
                          <a:cs typeface="Times New Roman" panose="02020603050405020304" pitchFamily="18" charset="0"/>
                        </a:rPr>
                        <a:t> (100 manually curated versioned document QA pairs)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IN" sz="1400" dirty="0">
                          <a:latin typeface="Times New Roman" panose="02020603050405020304" pitchFamily="18" charset="0"/>
                          <a:cs typeface="Times New Roman" panose="02020603050405020304" pitchFamily="18" charset="0"/>
                        </a:rPr>
                        <a:t>Achieved </a:t>
                      </a:r>
                      <a:r>
                        <a:rPr lang="en-IN" sz="1400" b="0" dirty="0">
                          <a:latin typeface="Times New Roman" panose="02020603050405020304" pitchFamily="18" charset="0"/>
                          <a:cs typeface="Times New Roman" panose="02020603050405020304" pitchFamily="18" charset="0"/>
                        </a:rPr>
                        <a:t>90 % accuracy</a:t>
                      </a:r>
                      <a:r>
                        <a:rPr lang="en-IN" sz="1400" dirty="0">
                          <a:latin typeface="Times New Roman" panose="02020603050405020304" pitchFamily="18" charset="0"/>
                          <a:cs typeface="Times New Roman" panose="02020603050405020304" pitchFamily="18" charset="0"/>
                        </a:rPr>
                        <a:t> vs naive RAG’s ~58–64 % on version-sensitive questions.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Specialized to versioned technical documentation; may be less effective on generic QA tasks..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a:t>
                      </a: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Ruofan</a:t>
                      </a:r>
                      <a:r>
                        <a:rPr lang="en-IN" sz="1400" dirty="0">
                          <a:latin typeface="Times New Roman" panose="02020603050405020304" pitchFamily="18" charset="0"/>
                          <a:cs typeface="Times New Roman" panose="02020603050405020304" pitchFamily="18" charset="0"/>
                        </a:rPr>
                        <a:t> Wu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ComposeRAG</a:t>
                      </a:r>
                      <a:r>
                        <a:rPr lang="en-US" sz="1400" dirty="0">
                          <a:latin typeface="Times New Roman" panose="02020603050405020304" pitchFamily="18" charset="0"/>
                          <a:cs typeface="Times New Roman" panose="02020603050405020304" pitchFamily="18" charset="0"/>
                        </a:rPr>
                        <a:t>: A Modular and Composable RAG for Corpus-Grounded Multi-Hop Question Answering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Modular RAG design that decomposes the pipeline into discrete components </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Modular pipeline architecture, Self-reflection refinement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Multiple multi-hop QA benchmarks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Up to </a:t>
                      </a:r>
                      <a:r>
                        <a:rPr lang="en-US" sz="1400" b="0" dirty="0">
                          <a:latin typeface="Times New Roman" panose="02020603050405020304" pitchFamily="18" charset="0"/>
                          <a:cs typeface="Times New Roman" panose="02020603050405020304" pitchFamily="18" charset="0"/>
                        </a:rPr>
                        <a:t>15 % improvement in accuracy </a:t>
                      </a:r>
                      <a:r>
                        <a:rPr lang="en-US" sz="1400" dirty="0">
                          <a:latin typeface="Times New Roman" panose="02020603050405020304" pitchFamily="18" charset="0"/>
                          <a:cs typeface="Times New Roman" panose="02020603050405020304" pitchFamily="18" charset="0"/>
                        </a:rPr>
                        <a:t>and significant reduction in ungrounded answers.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Increased architectural complexity vs monolithic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3041816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C4EE-C4D6-B2E7-2B8A-86EBBB3138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A32365-D7C5-FC67-68B4-F4872F43560F}"/>
              </a:ext>
            </a:extLst>
          </p:cNvPr>
          <p:cNvSpPr>
            <a:spLocks noGrp="1"/>
          </p:cNvSpPr>
          <p:nvPr>
            <p:ph type="sldNum" sz="quarter" idx="12"/>
          </p:nvPr>
        </p:nvSpPr>
        <p:spPr/>
        <p:txBody>
          <a:bodyPr/>
          <a:lstStyle/>
          <a:p>
            <a:fld id="{4686429B-0C83-44A8-A512-A863E50B6902}" type="slidenum">
              <a:rPr lang="en-US" smtClean="0"/>
              <a:t>12</a:t>
            </a:fld>
            <a:endParaRPr lang="en-US"/>
          </a:p>
        </p:txBody>
      </p:sp>
      <p:sp>
        <p:nvSpPr>
          <p:cNvPr id="6" name="Rectangle 5">
            <a:extLst>
              <a:ext uri="{FF2B5EF4-FFF2-40B4-BE49-F238E27FC236}">
                <a16:creationId xmlns:a16="http://schemas.microsoft.com/office/drawing/2014/main" id="{5FB1B702-D0B6-1F9D-DC80-E3561F9AE6DA}"/>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B3A43E5-18D1-5255-432B-B8C76DFE7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3A268332-ABDE-9085-AD23-196582095699}"/>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388AC49-17FD-2786-0BDC-2815E1940DF4}"/>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8556FD31-8E34-9CE6-C8ED-7A83D8E506CF}"/>
              </a:ext>
            </a:extLst>
          </p:cNvPr>
          <p:cNvGraphicFramePr>
            <a:graphicFrameLocks noGrp="1"/>
          </p:cNvGraphicFramePr>
          <p:nvPr>
            <p:extLst>
              <p:ext uri="{D42A27DB-BD31-4B8C-83A1-F6EECF244321}">
                <p14:modId xmlns:p14="http://schemas.microsoft.com/office/powerpoint/2010/main" val="813349994"/>
              </p:ext>
            </p:extLst>
          </p:nvPr>
        </p:nvGraphicFramePr>
        <p:xfrm>
          <a:off x="142240" y="1379757"/>
          <a:ext cx="11907523" cy="5178903"/>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791585">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13</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Yuntong Hu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CG-RAG: Research Question Answering by Citation Graph Retrieval-Augmented LLMs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Integrates citation graph retrieval with dense/sparse signals for better research QA retrieval.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Citation graph encoding, Lexical-Semantic Graph Retrieval (</a:t>
                      </a:r>
                      <a:r>
                        <a:rPr lang="en-IN" sz="1400" dirty="0" err="1">
                          <a:latin typeface="Times New Roman" panose="02020603050405020304" pitchFamily="18" charset="0"/>
                          <a:cs typeface="Times New Roman" panose="02020603050405020304" pitchFamily="18" charset="0"/>
                        </a:rPr>
                        <a:t>LeSeGR</a:t>
                      </a:r>
                      <a:r>
                        <a:rPr lang="en-IN" sz="1400" dirty="0">
                          <a:latin typeface="Times New Roman" panose="02020603050405020304" pitchFamily="18" charset="0"/>
                          <a:cs typeface="Times New Roman" panose="02020603050405020304" pitchFamily="18" charset="0"/>
                        </a:rPr>
                        <a: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Research QA benchmarks across multiple domains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Outperformed state-of-the-art RAG methods in retrieval accuracy and generation quality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Requires construction and maintenance of citation graphs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819680">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a:t>
                      </a:r>
                    </a:p>
                  </a:txBody>
                  <a:tcPr marL="42431" marR="42431" marT="0" marB="0" anchor="ctr">
                    <a:solidFill>
                      <a:schemeClr val="bg1"/>
                    </a:solidFill>
                  </a:tcPr>
                </a:tc>
                <a:tc>
                  <a:txBody>
                    <a:bodyPr/>
                    <a:lstStyle/>
                    <a:p>
                      <a:pPr algn="ctr">
                        <a:lnSpc>
                          <a:spcPct val="107000"/>
                        </a:lnSpc>
                        <a:spcAft>
                          <a:spcPts val="800"/>
                        </a:spcAft>
                      </a:pPr>
                      <a:r>
                        <a:rPr lang="nb-NO" sz="1400" dirty="0">
                          <a:latin typeface="Times New Roman" panose="02020603050405020304" pitchFamily="18" charset="0"/>
                          <a:cs typeface="Times New Roman" panose="02020603050405020304" pitchFamily="18" charset="0"/>
                        </a:rPr>
                        <a:t>Mingyue Cheng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i="0" dirty="0">
                          <a:latin typeface="Times New Roman" panose="02020603050405020304" pitchFamily="18" charset="0"/>
                          <a:cs typeface="Times New Roman" panose="02020603050405020304" pitchFamily="18" charset="0"/>
                        </a:rPr>
                        <a:t>A Survey on Knowledge-Oriented Retrieval-Augmented Generation</a:t>
                      </a:r>
                      <a:br>
                        <a:rPr lang="en-US" sz="1400" dirty="0">
                          <a:latin typeface="Times New Roman" panose="02020603050405020304" pitchFamily="18" charset="0"/>
                          <a:cs typeface="Times New Roman" panose="02020603050405020304" pitchFamily="18" charset="0"/>
                        </a:rPr>
                      </a:b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Comprehensive survey of RAG architectures, retrieval mechanisms, generation strategies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Survey categorizes many retrieval &amp; generation algorithms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Various RAG benchmarks discussed</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Provides taxonomy of RAG, identifies trend toward knowledge-oriented designs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Survey, not a novel method or empirical system.</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15</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C. Sharma,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Retrieval-Augmented Generation: Taxonomy and Perspectives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Systematic synthesis of recent RAG research, categorizing retriever-centric</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Analytical taxonomy covering DPR, dense/sparse retrievers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Discusses evaluation frameworks and QA benchmarks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Identifies key research trends and challenges, and highlights performance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High-level synthesis; not an empirical performance paper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2160506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13</a:t>
            </a:fld>
            <a:endParaRPr lang="en-US"/>
          </a:p>
        </p:txBody>
      </p:sp>
      <p:sp>
        <p:nvSpPr>
          <p:cNvPr id="6" name="Rectangle 5"/>
          <p:cNvSpPr/>
          <p:nvPr/>
        </p:nvSpPr>
        <p:spPr>
          <a:xfrm>
            <a:off x="492230" y="1379757"/>
            <a:ext cx="10529888" cy="52519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Most 2025 RAG systems focus on making retrieval smarter using graphs </a:t>
            </a:r>
            <a:r>
              <a:rPr lang="en-US"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[2,13]</a:t>
            </a:r>
            <a:r>
              <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model relationships between documents and entities), multi-agents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 </a:t>
            </a: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(multiple specialized retrievers working in parallel), and adaptive planners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[7,10,12]</a:t>
            </a: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(modules that choose the best retrieval method based on the question).</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Lightweight RAG frameworks aim to reduce cost, memory, and hardware needs by using smaller embedding models, compressed indexes, and simplified pipelines.</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4]</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Graph-based RAG improves multi-hop reasoning and relationship understanding by linking related entities and documents in a structured graph rather than treating text as isolated chunks.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[2,4,11,13]</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Adaptive retrieval changes strategy based on question complexity, using simple retrieval for direct questions and multi-step or graph retrieval for complex queries.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8]</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Multi-agent and ensemble RAG improve answer quality and reduce noise by combining outputs from multiple retrievers or generators and selecting the most reliable result.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Iterative RAG refines queries to gather missing evidence by repeatedly retrieving new information when the first result is incomplete.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Domain-specific RAG improves accuracy in education, law, and technical fields by training or tuning retrieval on domain-relevant data and terminology.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[15]</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Hallucination is reduced but not fully eliminated, meaning RAG systems generate fewer false answers but can still make mistakes if retrieval is weak or incomplete.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a:t>
            </a:r>
            <a:endParaRPr lang="en-IN" sz="2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477"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667254" y="136525"/>
            <a:ext cx="1002160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Summary of existing works</a:t>
            </a:r>
          </a:p>
        </p:txBody>
      </p:sp>
    </p:spTree>
    <p:extLst>
      <p:ext uri="{BB962C8B-B14F-4D97-AF65-F5344CB8AC3E}">
        <p14:creationId xmlns:p14="http://schemas.microsoft.com/office/powerpoint/2010/main" val="141778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CD60B-1558-9891-200B-B9B14D5D78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3A2A0-CDC8-9EB5-B89A-60A97ACC54B2}"/>
              </a:ext>
            </a:extLst>
          </p:cNvPr>
          <p:cNvSpPr>
            <a:spLocks noGrp="1"/>
          </p:cNvSpPr>
          <p:nvPr>
            <p:ph type="sldNum" sz="quarter" idx="12"/>
          </p:nvPr>
        </p:nvSpPr>
        <p:spPr/>
        <p:txBody>
          <a:bodyPr/>
          <a:lstStyle/>
          <a:p>
            <a:fld id="{4686429B-0C83-44A8-A512-A863E50B6902}" type="slidenum">
              <a:rPr lang="en-US" smtClean="0"/>
              <a:t>14</a:t>
            </a:fld>
            <a:endParaRPr lang="en-US"/>
          </a:p>
        </p:txBody>
      </p:sp>
      <p:sp>
        <p:nvSpPr>
          <p:cNvPr id="6" name="Rectangle 5">
            <a:extLst>
              <a:ext uri="{FF2B5EF4-FFF2-40B4-BE49-F238E27FC236}">
                <a16:creationId xmlns:a16="http://schemas.microsoft.com/office/drawing/2014/main" id="{D810A2E9-3571-11AE-F226-35B9704BAAA4}"/>
              </a:ext>
            </a:extLst>
          </p:cNvPr>
          <p:cNvSpPr/>
          <p:nvPr/>
        </p:nvSpPr>
        <p:spPr>
          <a:xfrm>
            <a:off x="492230" y="1483259"/>
            <a:ext cx="10861570" cy="46668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gn="just">
              <a:lnSpc>
                <a:spcPct val="107000"/>
              </a:lnSpc>
              <a:buFont typeface="+mj-lt"/>
              <a:buAutoNum type="arabicPeriod"/>
            </a:pPr>
            <a:r>
              <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collect and prepare an academic dataset consisting of research papers, textbooks, and lecture notes for system training and evaluation.</a:t>
            </a:r>
            <a:endParaRPr lang="en-US" sz="20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design a lightweight Retrieval-Augmented Generation (RAG) framework for academic question answering.</a:t>
            </a: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reduce hallucination by grounding answers strictly on retrieved academic documents.</a:t>
            </a: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implement efficient document ingestion, chunking, embedding, and semantic retrieval.</a:t>
            </a: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optimize the system for low-resource environments with minimal hardware dependency.</a:t>
            </a:r>
          </a:p>
          <a:p>
            <a:pPr marL="342900" lvl="0" indent="-342900" algn="just">
              <a:lnSpc>
                <a:spcPct val="107000"/>
              </a:lnSpc>
              <a:buFont typeface="+mj-lt"/>
              <a:buAutoNum type="arabicPeriod"/>
            </a:pPr>
            <a:endParaRPr lang="en-IN" sz="20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If required, to extend the system with Graphical User Interface for user queries.</a:t>
            </a:r>
          </a:p>
        </p:txBody>
      </p:sp>
      <p:pic>
        <p:nvPicPr>
          <p:cNvPr id="3" name="Picture 2">
            <a:extLst>
              <a:ext uri="{FF2B5EF4-FFF2-40B4-BE49-F238E27FC236}">
                <a16:creationId xmlns:a16="http://schemas.microsoft.com/office/drawing/2014/main" id="{7373FEF6-D578-6388-3B29-984756465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75A3CDD3-D4E1-D067-BD6B-401CC1709F25}"/>
              </a:ext>
            </a:extLst>
          </p:cNvPr>
          <p:cNvSpPr txBox="1"/>
          <p:nvPr/>
        </p:nvSpPr>
        <p:spPr>
          <a:xfrm>
            <a:off x="2772697" y="142815"/>
            <a:ext cx="927706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ED07CB62-149B-5351-CD1E-F95E076F30BC}"/>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Objectives of proposed work</a:t>
            </a:r>
          </a:p>
        </p:txBody>
      </p:sp>
    </p:spTree>
    <p:extLst>
      <p:ext uri="{BB962C8B-B14F-4D97-AF65-F5344CB8AC3E}">
        <p14:creationId xmlns:p14="http://schemas.microsoft.com/office/powerpoint/2010/main" val="2392165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3E8C0-4F14-6389-FB8C-F467419B48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C67DCC-0994-BC72-5D3F-7A1343A9A0F1}"/>
              </a:ext>
            </a:extLst>
          </p:cNvPr>
          <p:cNvSpPr>
            <a:spLocks noGrp="1"/>
          </p:cNvSpPr>
          <p:nvPr>
            <p:ph type="sldNum" sz="quarter" idx="12"/>
          </p:nvPr>
        </p:nvSpPr>
        <p:spPr/>
        <p:txBody>
          <a:bodyPr/>
          <a:lstStyle/>
          <a:p>
            <a:fld id="{4686429B-0C83-44A8-A512-A863E50B6902}" type="slidenum">
              <a:rPr lang="en-US" smtClean="0"/>
              <a:t>15</a:t>
            </a:fld>
            <a:endParaRPr lang="en-US"/>
          </a:p>
        </p:txBody>
      </p:sp>
      <p:sp>
        <p:nvSpPr>
          <p:cNvPr id="6" name="Rectangle 5">
            <a:extLst>
              <a:ext uri="{FF2B5EF4-FFF2-40B4-BE49-F238E27FC236}">
                <a16:creationId xmlns:a16="http://schemas.microsoft.com/office/drawing/2014/main" id="{F2220AB2-8707-AE96-086C-83337A5CF147}"/>
              </a:ext>
            </a:extLst>
          </p:cNvPr>
          <p:cNvSpPr/>
          <p:nvPr/>
        </p:nvSpPr>
        <p:spPr>
          <a:xfrm>
            <a:off x="619433" y="1323724"/>
            <a:ext cx="6541655" cy="24946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600"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Software Requirements:</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Operating System: Windows 10/11, Linux, or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macOSProgramming</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Language: Python 3.10+</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Frameworks: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LangChain</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LlamaIndex (for RAG pipeline)</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Vector Database: FAISS /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ChromaDBLLM</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Access: Open-source model (Mistral,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LLaMA</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or API-based LLM</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IDE: VS Code / Google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Colab</a:t>
            </a:r>
            <a:endParaRPr lang="en-IN"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13A1270-B69C-9703-BEAE-5A062439D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1C77AF-E6CE-2CA1-9339-8A6676DBD35B}"/>
              </a:ext>
            </a:extLst>
          </p:cNvPr>
          <p:cNvSpPr txBox="1"/>
          <p:nvPr/>
        </p:nvSpPr>
        <p:spPr>
          <a:xfrm>
            <a:off x="2733367" y="142814"/>
            <a:ext cx="9316393"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964EA3-C59E-12ED-7D01-16D13BF8FFBC}"/>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System requirements</a:t>
            </a:r>
          </a:p>
        </p:txBody>
      </p:sp>
      <p:sp>
        <p:nvSpPr>
          <p:cNvPr id="19" name="TextBox 18">
            <a:extLst>
              <a:ext uri="{FF2B5EF4-FFF2-40B4-BE49-F238E27FC236}">
                <a16:creationId xmlns:a16="http://schemas.microsoft.com/office/drawing/2014/main" id="{D59314C8-BB93-EAB5-F712-FE2B33142717}"/>
              </a:ext>
            </a:extLst>
          </p:cNvPr>
          <p:cNvSpPr txBox="1"/>
          <p:nvPr/>
        </p:nvSpPr>
        <p:spPr>
          <a:xfrm>
            <a:off x="619433" y="3889092"/>
            <a:ext cx="6541655" cy="1569660"/>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Hardware Requirements: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Processor: Intel i5 or higher / AMD </a:t>
            </a:r>
            <a:r>
              <a:rPr lang="en-IN" sz="1600" dirty="0" err="1">
                <a:latin typeface="Times New Roman" panose="02020603050405020304" pitchFamily="18" charset="0"/>
                <a:cs typeface="Times New Roman" panose="02020603050405020304" pitchFamily="18" charset="0"/>
              </a:rPr>
              <a:t>Ryzen</a:t>
            </a:r>
            <a:r>
              <a:rPr lang="en-IN" sz="1600" dirty="0">
                <a:latin typeface="Times New Roman" panose="02020603050405020304" pitchFamily="18" charset="0"/>
                <a:cs typeface="Times New Roman" panose="02020603050405020304" pitchFamily="18" charset="0"/>
              </a:rPr>
              <a:t> 5 or higher</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RAM: Minimum 8 GB (16 GB recommended)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Storage: Minimum 20 GB free space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GPU: Optional (NVIDIA GPU with 4GB)</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Internet: Required for model download and API usage</a:t>
            </a:r>
          </a:p>
        </p:txBody>
      </p:sp>
      <p:sp>
        <p:nvSpPr>
          <p:cNvPr id="20" name="TextBox 19">
            <a:extLst>
              <a:ext uri="{FF2B5EF4-FFF2-40B4-BE49-F238E27FC236}">
                <a16:creationId xmlns:a16="http://schemas.microsoft.com/office/drawing/2014/main" id="{52776C78-41FB-22B7-0106-BDE1D4C9DFF4}"/>
              </a:ext>
            </a:extLst>
          </p:cNvPr>
          <p:cNvSpPr txBox="1"/>
          <p:nvPr/>
        </p:nvSpPr>
        <p:spPr>
          <a:xfrm>
            <a:off x="7801338" y="1306790"/>
            <a:ext cx="3284478" cy="3046988"/>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Package Requirements: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torch</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transformers</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langchain</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llama-index</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faiss-cpu</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chromadb</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sentence-transformers</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numpy</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pandas</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pypdf</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pdfplumber</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9631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DF643C-DF00-E0B8-2246-735F9CFEC465}"/>
              </a:ext>
            </a:extLst>
          </p:cNvPr>
          <p:cNvSpPr>
            <a:spLocks noGrp="1"/>
          </p:cNvSpPr>
          <p:nvPr>
            <p:ph idx="1"/>
          </p:nvPr>
        </p:nvSpPr>
        <p:spPr>
          <a:xfrm>
            <a:off x="543033" y="1130210"/>
            <a:ext cx="10810767" cy="5378745"/>
          </a:xfrm>
          <a:ln>
            <a:solidFill>
              <a:schemeClr val="tx1"/>
            </a:solidFill>
          </a:ln>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College Dataset Details</a:t>
            </a:r>
          </a:p>
          <a:p>
            <a:r>
              <a:rPr lang="en-US" sz="1600" dirty="0">
                <a:latin typeface="Times New Roman" panose="02020603050405020304" pitchFamily="18" charset="0"/>
                <a:cs typeface="Times New Roman" panose="02020603050405020304" pitchFamily="18" charset="0"/>
              </a:rPr>
              <a:t>The college dataset is a structured knowledge dataset designed to store descriptive information about </a:t>
            </a:r>
            <a:r>
              <a:rPr lang="en-US" sz="1600" b="1" dirty="0">
                <a:latin typeface="Times New Roman" panose="02020603050405020304" pitchFamily="18" charset="0"/>
                <a:cs typeface="Times New Roman" panose="02020603050405020304" pitchFamily="18" charset="0"/>
              </a:rPr>
              <a:t>Ekdant Institute of Technology</a:t>
            </a:r>
            <a:r>
              <a:rPr lang="en-US" sz="1600" dirty="0">
                <a:latin typeface="Times New Roman" panose="02020603050405020304" pitchFamily="18" charset="0"/>
                <a:cs typeface="Times New Roman" panose="02020603050405020304" pitchFamily="18" charset="0"/>
              </a:rPr>
              <a:t> for chatbot and information retrieval tasks.</a:t>
            </a:r>
          </a:p>
          <a:p>
            <a:r>
              <a:rPr lang="en-US" sz="1600" dirty="0">
                <a:latin typeface="Times New Roman" panose="02020603050405020304" pitchFamily="18" charset="0"/>
                <a:cs typeface="Times New Roman" panose="02020603050405020304" pitchFamily="18" charset="0"/>
              </a:rPr>
              <a:t>Data is stored as structured JSON documents containing category and content fields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Each entry represents a single information record about the college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Information is grouped into multiple categories such as departments, courses, facilities, rules, events, and contact details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dataset can be saved and loaded using a JSON file for easy reuse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dataset is suitable for building college chatbots, RAG systems, and knowledge-based applications</a:t>
            </a:r>
          </a:p>
          <a:p>
            <a:pPr marL="0" indent="0">
              <a:buNone/>
            </a:pPr>
            <a:endParaRPr lang="en-IN" dirty="0"/>
          </a:p>
        </p:txBody>
      </p:sp>
      <p:sp>
        <p:nvSpPr>
          <p:cNvPr id="4" name="Slide Number Placeholder 3">
            <a:extLst>
              <a:ext uri="{FF2B5EF4-FFF2-40B4-BE49-F238E27FC236}">
                <a16:creationId xmlns:a16="http://schemas.microsoft.com/office/drawing/2014/main" id="{6DF18119-AFBA-B815-6849-2BD2B2163316}"/>
              </a:ext>
            </a:extLst>
          </p:cNvPr>
          <p:cNvSpPr>
            <a:spLocks noGrp="1"/>
          </p:cNvSpPr>
          <p:nvPr>
            <p:ph type="sldNum" sz="quarter" idx="12"/>
          </p:nvPr>
        </p:nvSpPr>
        <p:spPr/>
        <p:txBody>
          <a:bodyPr/>
          <a:lstStyle/>
          <a:p>
            <a:fld id="{465B6183-8A9B-4479-A92F-19E2694DB44A}" type="slidenum">
              <a:rPr lang="en-IN" smtClean="0"/>
              <a:t>16</a:t>
            </a:fld>
            <a:endParaRPr lang="en-IN"/>
          </a:p>
        </p:txBody>
      </p:sp>
      <p:pic>
        <p:nvPicPr>
          <p:cNvPr id="5" name="Picture 4">
            <a:extLst>
              <a:ext uri="{FF2B5EF4-FFF2-40B4-BE49-F238E27FC236}">
                <a16:creationId xmlns:a16="http://schemas.microsoft.com/office/drawing/2014/main" id="{6B86ED70-4488-4059-C592-353AE2EAD8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8" name="TextBox 7">
            <a:extLst>
              <a:ext uri="{FF2B5EF4-FFF2-40B4-BE49-F238E27FC236}">
                <a16:creationId xmlns:a16="http://schemas.microsoft.com/office/drawing/2014/main" id="{3FCEE1E5-F578-A3D4-AA20-93BF3C32BD48}"/>
              </a:ext>
            </a:extLst>
          </p:cNvPr>
          <p:cNvSpPr txBox="1"/>
          <p:nvPr/>
        </p:nvSpPr>
        <p:spPr>
          <a:xfrm>
            <a:off x="2753031" y="142814"/>
            <a:ext cx="9296729"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C2EF54E0-BDA8-56A6-4CBC-2F6843C4D1E4}"/>
              </a:ext>
            </a:extLst>
          </p:cNvPr>
          <p:cNvSpPr txBox="1"/>
          <p:nvPr/>
        </p:nvSpPr>
        <p:spPr>
          <a:xfrm>
            <a:off x="543033" y="668545"/>
            <a:ext cx="5448499"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Dataset Summary</a:t>
            </a:r>
          </a:p>
        </p:txBody>
      </p:sp>
      <p:graphicFrame>
        <p:nvGraphicFramePr>
          <p:cNvPr id="2" name="Table 1">
            <a:extLst>
              <a:ext uri="{FF2B5EF4-FFF2-40B4-BE49-F238E27FC236}">
                <a16:creationId xmlns:a16="http://schemas.microsoft.com/office/drawing/2014/main" id="{49CC45F6-BEB6-0D40-C25E-A80F4491D452}"/>
              </a:ext>
            </a:extLst>
          </p:cNvPr>
          <p:cNvGraphicFramePr>
            <a:graphicFrameLocks noGrp="1"/>
          </p:cNvGraphicFramePr>
          <p:nvPr>
            <p:extLst>
              <p:ext uri="{D42A27DB-BD31-4B8C-83A1-F6EECF244321}">
                <p14:modId xmlns:p14="http://schemas.microsoft.com/office/powerpoint/2010/main" val="1138137375"/>
              </p:ext>
            </p:extLst>
          </p:nvPr>
        </p:nvGraphicFramePr>
        <p:xfrm>
          <a:off x="2326633" y="3390239"/>
          <a:ext cx="7947524" cy="3118714"/>
        </p:xfrm>
        <a:graphic>
          <a:graphicData uri="http://schemas.openxmlformats.org/drawingml/2006/table">
            <a:tbl>
              <a:tblPr>
                <a:tableStyleId>{35758FB7-9AC5-4552-8A53-C91805E547FA}</a:tableStyleId>
              </a:tblPr>
              <a:tblGrid>
                <a:gridCol w="1865072">
                  <a:extLst>
                    <a:ext uri="{9D8B030D-6E8A-4147-A177-3AD203B41FA5}">
                      <a16:colId xmlns:a16="http://schemas.microsoft.com/office/drawing/2014/main" val="2443397372"/>
                    </a:ext>
                  </a:extLst>
                </a:gridCol>
                <a:gridCol w="1671004">
                  <a:extLst>
                    <a:ext uri="{9D8B030D-6E8A-4147-A177-3AD203B41FA5}">
                      <a16:colId xmlns:a16="http://schemas.microsoft.com/office/drawing/2014/main" val="856843632"/>
                    </a:ext>
                  </a:extLst>
                </a:gridCol>
                <a:gridCol w="4411448">
                  <a:extLst>
                    <a:ext uri="{9D8B030D-6E8A-4147-A177-3AD203B41FA5}">
                      <a16:colId xmlns:a16="http://schemas.microsoft.com/office/drawing/2014/main" val="1832477052"/>
                    </a:ext>
                  </a:extLst>
                </a:gridCol>
              </a:tblGrid>
              <a:tr h="344096">
                <a:tc>
                  <a:txBody>
                    <a:bodyPr/>
                    <a:lstStyle/>
                    <a:p>
                      <a:pPr marL="228600">
                        <a:lnSpc>
                          <a:spcPct val="110000"/>
                        </a:lnSpc>
                        <a:spcBef>
                          <a:spcPts val="800"/>
                        </a:spcBef>
                        <a:buNone/>
                      </a:pPr>
                      <a:r>
                        <a:rPr lang="en-IN" sz="1100" b="1">
                          <a:solidFill>
                            <a:srgbClr val="000000"/>
                          </a:solidFill>
                          <a:effectLst/>
                          <a:latin typeface="Times Roman"/>
                          <a:ea typeface="Times Roman"/>
                          <a:cs typeface="Times Roman"/>
                        </a:rPr>
                        <a:t>Category</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nSpc>
                          <a:spcPct val="110000"/>
                        </a:lnSpc>
                        <a:spcBef>
                          <a:spcPts val="800"/>
                        </a:spcBef>
                        <a:buNone/>
                      </a:pPr>
                      <a:r>
                        <a:rPr lang="en-IN" sz="1100" b="1">
                          <a:solidFill>
                            <a:srgbClr val="000000"/>
                          </a:solidFill>
                          <a:effectLst/>
                          <a:latin typeface="Times Roman"/>
                          <a:ea typeface="Times Roman"/>
                          <a:cs typeface="Times Roman"/>
                        </a:rPr>
                        <a:t>No. of Entries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nSpc>
                          <a:spcPct val="110000"/>
                        </a:lnSpc>
                        <a:spcBef>
                          <a:spcPts val="800"/>
                        </a:spcBef>
                        <a:buNone/>
                      </a:pPr>
                      <a:r>
                        <a:rPr lang="en-IN" sz="1100" b="1">
                          <a:solidFill>
                            <a:srgbClr val="000000"/>
                          </a:solidFill>
                          <a:effectLst/>
                          <a:latin typeface="Times Roman"/>
                          <a:ea typeface="Times Roman"/>
                          <a:cs typeface="Times Roman"/>
                        </a:rPr>
                        <a:t>Description</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042416909"/>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College Info</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dirty="0">
                          <a:solidFill>
                            <a:srgbClr val="000000"/>
                          </a:solidFill>
                          <a:effectLst/>
                          <a:latin typeface="Times Roman"/>
                          <a:ea typeface="Times Roman"/>
                          <a:cs typeface="Times Roman"/>
                        </a:rPr>
                        <a:t>10</a:t>
                      </a:r>
                      <a:endParaRPr lang="en-IN" sz="1200" dirty="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dirty="0">
                          <a:solidFill>
                            <a:srgbClr val="000000"/>
                          </a:solidFill>
                          <a:effectLst/>
                          <a:latin typeface="Times Roman"/>
                          <a:ea typeface="Times Roman"/>
                          <a:cs typeface="Times Roman"/>
                        </a:rPr>
                        <a:t>General information about MITS including history, location, rankings, vision, collaborations</a:t>
                      </a:r>
                      <a:endParaRPr lang="en-IN" sz="1200" dirty="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1611688677"/>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UG Programs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13</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Undergraduate courses including CSE, AI/ML, Cyber Security, ECE, EEE, Mechanical, Civil, etc.</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1153368768"/>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PG Programs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8</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Postgraduate programs such as M.Tech specializations, MBA, MCA</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709809474"/>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PhD Programs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8</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PhD disciplines, eligibility, selection process, and important dates</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996596391"/>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Admissions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8</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Admission process, entrance exam (MITSUCET), steps, and contact details</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350438686"/>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Academic Schools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1</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Structure of academic divisions (Engineering, Computing, Management)</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1138933275"/>
                  </a:ext>
                </a:extLst>
              </a:tr>
              <a:tr h="344096">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Placements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4</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dirty="0">
                          <a:solidFill>
                            <a:srgbClr val="000000"/>
                          </a:solidFill>
                          <a:effectLst/>
                          <a:latin typeface="Times Roman"/>
                          <a:ea typeface="Times Roman"/>
                          <a:cs typeface="Times Roman"/>
                        </a:rPr>
                        <a:t>Placement support, recruiters, and alumni testimonials</a:t>
                      </a:r>
                      <a:endParaRPr lang="en-IN" sz="1200" dirty="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774095854"/>
                  </a:ext>
                </a:extLst>
              </a:tr>
            </a:tbl>
          </a:graphicData>
        </a:graphic>
      </p:graphicFrame>
    </p:spTree>
    <p:extLst>
      <p:ext uri="{BB962C8B-B14F-4D97-AF65-F5344CB8AC3E}">
        <p14:creationId xmlns:p14="http://schemas.microsoft.com/office/powerpoint/2010/main" val="4289243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E79808-CA78-C05C-3EBC-4DC56763005E}"/>
              </a:ext>
            </a:extLst>
          </p:cNvPr>
          <p:cNvSpPr>
            <a:spLocks noGrp="1"/>
          </p:cNvSpPr>
          <p:nvPr>
            <p:ph type="sldNum" sz="quarter" idx="12"/>
          </p:nvPr>
        </p:nvSpPr>
        <p:spPr/>
        <p:txBody>
          <a:bodyPr/>
          <a:lstStyle/>
          <a:p>
            <a:fld id="{465B6183-8A9B-4479-A92F-19E2694DB44A}" type="slidenum">
              <a:rPr lang="en-IN" smtClean="0"/>
              <a:t>17</a:t>
            </a:fld>
            <a:endParaRPr lang="en-IN"/>
          </a:p>
        </p:txBody>
      </p:sp>
      <p:sp>
        <p:nvSpPr>
          <p:cNvPr id="6" name="Title 5">
            <a:extLst>
              <a:ext uri="{FF2B5EF4-FFF2-40B4-BE49-F238E27FC236}">
                <a16:creationId xmlns:a16="http://schemas.microsoft.com/office/drawing/2014/main" id="{DD807D8F-7D3D-5315-D3D5-DAB36D013AA3}"/>
              </a:ext>
            </a:extLst>
          </p:cNvPr>
          <p:cNvSpPr txBox="1">
            <a:spLocks noGrp="1"/>
          </p:cNvSpPr>
          <p:nvPr>
            <p:ph type="title"/>
          </p:nvPr>
        </p:nvSpPr>
        <p:spPr>
          <a:xfrm>
            <a:off x="838200" y="813905"/>
            <a:ext cx="10515600" cy="428002"/>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Dataset Summary</a:t>
            </a:r>
          </a:p>
        </p:txBody>
      </p:sp>
      <p:sp>
        <p:nvSpPr>
          <p:cNvPr id="8" name="Content Placeholder 7">
            <a:extLst>
              <a:ext uri="{FF2B5EF4-FFF2-40B4-BE49-F238E27FC236}">
                <a16:creationId xmlns:a16="http://schemas.microsoft.com/office/drawing/2014/main" id="{74A78E5D-6287-A5C8-325C-D1F3B72C1CC8}"/>
              </a:ext>
            </a:extLst>
          </p:cNvPr>
          <p:cNvSpPr>
            <a:spLocks noGrp="1"/>
          </p:cNvSpPr>
          <p:nvPr>
            <p:ph idx="1"/>
          </p:nvPr>
        </p:nvSpPr>
        <p:spPr>
          <a:xfrm>
            <a:off x="943896" y="1779639"/>
            <a:ext cx="10409903" cy="4397324"/>
          </a:xfrm>
          <a:ln>
            <a:solidFill>
              <a:schemeClr val="tx1"/>
            </a:solidFill>
          </a:ln>
        </p:spPr>
        <p:txBody>
          <a:bodyPr/>
          <a:lstStyle/>
          <a:p>
            <a:r>
              <a:rPr lang="en-IN" dirty="0">
                <a:latin typeface="Times New Roman" panose="02020603050405020304" pitchFamily="18" charset="0"/>
                <a:cs typeface="Times New Roman" panose="02020603050405020304" pitchFamily="18" charset="0"/>
              </a:rPr>
              <a:t>Overall Dataset Statistics</a:t>
            </a:r>
          </a:p>
          <a:p>
            <a:pPr marL="0" indent="0">
              <a:buNone/>
            </a:pPr>
            <a:endParaRPr lang="en-IN" dirty="0"/>
          </a:p>
        </p:txBody>
      </p:sp>
      <p:graphicFrame>
        <p:nvGraphicFramePr>
          <p:cNvPr id="9" name="Table 8">
            <a:extLst>
              <a:ext uri="{FF2B5EF4-FFF2-40B4-BE49-F238E27FC236}">
                <a16:creationId xmlns:a16="http://schemas.microsoft.com/office/drawing/2014/main" id="{85DCC691-79FC-CA8E-8951-AEBB3A3199C0}"/>
              </a:ext>
            </a:extLst>
          </p:cNvPr>
          <p:cNvGraphicFramePr>
            <a:graphicFrameLocks noGrp="1"/>
          </p:cNvGraphicFramePr>
          <p:nvPr>
            <p:extLst>
              <p:ext uri="{D42A27DB-BD31-4B8C-83A1-F6EECF244321}">
                <p14:modId xmlns:p14="http://schemas.microsoft.com/office/powerpoint/2010/main" val="4166425389"/>
              </p:ext>
            </p:extLst>
          </p:nvPr>
        </p:nvGraphicFramePr>
        <p:xfrm>
          <a:off x="1037301" y="2287623"/>
          <a:ext cx="10223091" cy="3598980"/>
        </p:xfrm>
        <a:graphic>
          <a:graphicData uri="http://schemas.openxmlformats.org/drawingml/2006/table">
            <a:tbl>
              <a:tblPr>
                <a:tableStyleId>{35758FB7-9AC5-4552-8A53-C91805E547FA}</a:tableStyleId>
              </a:tblPr>
              <a:tblGrid>
                <a:gridCol w="3407697">
                  <a:extLst>
                    <a:ext uri="{9D8B030D-6E8A-4147-A177-3AD203B41FA5}">
                      <a16:colId xmlns:a16="http://schemas.microsoft.com/office/drawing/2014/main" val="3497184508"/>
                    </a:ext>
                  </a:extLst>
                </a:gridCol>
                <a:gridCol w="3407697">
                  <a:extLst>
                    <a:ext uri="{9D8B030D-6E8A-4147-A177-3AD203B41FA5}">
                      <a16:colId xmlns:a16="http://schemas.microsoft.com/office/drawing/2014/main" val="2060109422"/>
                    </a:ext>
                  </a:extLst>
                </a:gridCol>
                <a:gridCol w="3407697">
                  <a:extLst>
                    <a:ext uri="{9D8B030D-6E8A-4147-A177-3AD203B41FA5}">
                      <a16:colId xmlns:a16="http://schemas.microsoft.com/office/drawing/2014/main" val="459089631"/>
                    </a:ext>
                  </a:extLst>
                </a:gridCol>
              </a:tblGrid>
              <a:tr h="422700">
                <a:tc>
                  <a:txBody>
                    <a:bodyPr/>
                    <a:lstStyle/>
                    <a:p>
                      <a:pPr>
                        <a:buNone/>
                      </a:pPr>
                      <a:r>
                        <a:rPr lang="en-IN"/>
                        <a:t>S. No</a:t>
                      </a:r>
                    </a:p>
                  </a:txBody>
                  <a:tcPr anchor="ctr"/>
                </a:tc>
                <a:tc>
                  <a:txBody>
                    <a:bodyPr/>
                    <a:lstStyle/>
                    <a:p>
                      <a:pPr>
                        <a:buNone/>
                      </a:pPr>
                      <a:r>
                        <a:rPr lang="en-IN"/>
                        <a:t>Metric</a:t>
                      </a:r>
                    </a:p>
                  </a:txBody>
                  <a:tcPr anchor="ctr"/>
                </a:tc>
                <a:tc>
                  <a:txBody>
                    <a:bodyPr/>
                    <a:lstStyle/>
                    <a:p>
                      <a:pPr>
                        <a:buNone/>
                      </a:pPr>
                      <a:r>
                        <a:rPr lang="en-IN"/>
                        <a:t>Count / Description</a:t>
                      </a:r>
                    </a:p>
                  </a:txBody>
                  <a:tcPr anchor="ctr"/>
                </a:tc>
                <a:extLst>
                  <a:ext uri="{0D108BD9-81ED-4DB2-BD59-A6C34878D82A}">
                    <a16:rowId xmlns:a16="http://schemas.microsoft.com/office/drawing/2014/main" val="3274772179"/>
                  </a:ext>
                </a:extLst>
              </a:tr>
              <a:tr h="422700">
                <a:tc>
                  <a:txBody>
                    <a:bodyPr/>
                    <a:lstStyle/>
                    <a:p>
                      <a:pPr>
                        <a:buNone/>
                      </a:pPr>
                      <a:r>
                        <a:rPr lang="en-IN"/>
                        <a:t>1</a:t>
                      </a:r>
                    </a:p>
                  </a:txBody>
                  <a:tcPr anchor="ctr"/>
                </a:tc>
                <a:tc>
                  <a:txBody>
                    <a:bodyPr/>
                    <a:lstStyle/>
                    <a:p>
                      <a:pPr>
                        <a:buNone/>
                      </a:pPr>
                      <a:r>
                        <a:rPr lang="en-IN"/>
                        <a:t>Total Documents</a:t>
                      </a:r>
                    </a:p>
                  </a:txBody>
                  <a:tcPr anchor="ctr"/>
                </a:tc>
                <a:tc>
                  <a:txBody>
                    <a:bodyPr/>
                    <a:lstStyle/>
                    <a:p>
                      <a:pPr>
                        <a:buNone/>
                      </a:pPr>
                      <a:r>
                        <a:rPr lang="en-IN"/>
                        <a:t>70</a:t>
                      </a:r>
                    </a:p>
                  </a:txBody>
                  <a:tcPr anchor="ctr"/>
                </a:tc>
                <a:extLst>
                  <a:ext uri="{0D108BD9-81ED-4DB2-BD59-A6C34878D82A}">
                    <a16:rowId xmlns:a16="http://schemas.microsoft.com/office/drawing/2014/main" val="679663253"/>
                  </a:ext>
                </a:extLst>
              </a:tr>
              <a:tr h="422700">
                <a:tc>
                  <a:txBody>
                    <a:bodyPr/>
                    <a:lstStyle/>
                    <a:p>
                      <a:pPr>
                        <a:buNone/>
                      </a:pPr>
                      <a:r>
                        <a:rPr lang="en-IN"/>
                        <a:t>2</a:t>
                      </a:r>
                    </a:p>
                  </a:txBody>
                  <a:tcPr anchor="ctr"/>
                </a:tc>
                <a:tc>
                  <a:txBody>
                    <a:bodyPr/>
                    <a:lstStyle/>
                    <a:p>
                      <a:pPr>
                        <a:buNone/>
                      </a:pPr>
                      <a:r>
                        <a:rPr lang="en-IN"/>
                        <a:t>Total Categories</a:t>
                      </a:r>
                    </a:p>
                  </a:txBody>
                  <a:tcPr anchor="ctr"/>
                </a:tc>
                <a:tc>
                  <a:txBody>
                    <a:bodyPr/>
                    <a:lstStyle/>
                    <a:p>
                      <a:pPr>
                        <a:buNone/>
                      </a:pPr>
                      <a:r>
                        <a:rPr lang="en-IN"/>
                        <a:t>10</a:t>
                      </a:r>
                    </a:p>
                  </a:txBody>
                  <a:tcPr anchor="ctr"/>
                </a:tc>
                <a:extLst>
                  <a:ext uri="{0D108BD9-81ED-4DB2-BD59-A6C34878D82A}">
                    <a16:rowId xmlns:a16="http://schemas.microsoft.com/office/drawing/2014/main" val="3213673439"/>
                  </a:ext>
                </a:extLst>
              </a:tr>
              <a:tr h="422700">
                <a:tc>
                  <a:txBody>
                    <a:bodyPr/>
                    <a:lstStyle/>
                    <a:p>
                      <a:pPr>
                        <a:buNone/>
                      </a:pPr>
                      <a:r>
                        <a:rPr lang="en-IN"/>
                        <a:t>3</a:t>
                      </a:r>
                    </a:p>
                  </a:txBody>
                  <a:tcPr anchor="ctr"/>
                </a:tc>
                <a:tc>
                  <a:txBody>
                    <a:bodyPr/>
                    <a:lstStyle/>
                    <a:p>
                      <a:pPr>
                        <a:buNone/>
                      </a:pPr>
                      <a:r>
                        <a:rPr lang="en-IN"/>
                        <a:t>Structure per Document</a:t>
                      </a:r>
                    </a:p>
                  </a:txBody>
                  <a:tcPr anchor="ctr"/>
                </a:tc>
                <a:tc>
                  <a:txBody>
                    <a:bodyPr/>
                    <a:lstStyle/>
                    <a:p>
                      <a:pPr>
                        <a:buNone/>
                      </a:pPr>
                      <a:r>
                        <a:rPr lang="en-IN"/>
                        <a:t>category + content</a:t>
                      </a:r>
                    </a:p>
                  </a:txBody>
                  <a:tcPr anchor="ctr"/>
                </a:tc>
                <a:extLst>
                  <a:ext uri="{0D108BD9-81ED-4DB2-BD59-A6C34878D82A}">
                    <a16:rowId xmlns:a16="http://schemas.microsoft.com/office/drawing/2014/main" val="2858042863"/>
                  </a:ext>
                </a:extLst>
              </a:tr>
              <a:tr h="422700">
                <a:tc>
                  <a:txBody>
                    <a:bodyPr/>
                    <a:lstStyle/>
                    <a:p>
                      <a:pPr>
                        <a:buNone/>
                      </a:pPr>
                      <a:r>
                        <a:rPr lang="en-IN"/>
                        <a:t>4</a:t>
                      </a:r>
                    </a:p>
                  </a:txBody>
                  <a:tcPr anchor="ctr"/>
                </a:tc>
                <a:tc>
                  <a:txBody>
                    <a:bodyPr/>
                    <a:lstStyle/>
                    <a:p>
                      <a:pPr>
                        <a:buNone/>
                      </a:pPr>
                      <a:r>
                        <a:rPr lang="en-IN"/>
                        <a:t>Data Format</a:t>
                      </a:r>
                    </a:p>
                  </a:txBody>
                  <a:tcPr anchor="ctr"/>
                </a:tc>
                <a:tc>
                  <a:txBody>
                    <a:bodyPr/>
                    <a:lstStyle/>
                    <a:p>
                      <a:pPr>
                        <a:buNone/>
                      </a:pPr>
                      <a:r>
                        <a:rPr lang="en-IN"/>
                        <a:t>JSON structured text</a:t>
                      </a:r>
                    </a:p>
                  </a:txBody>
                  <a:tcPr anchor="ctr"/>
                </a:tc>
                <a:extLst>
                  <a:ext uri="{0D108BD9-81ED-4DB2-BD59-A6C34878D82A}">
                    <a16:rowId xmlns:a16="http://schemas.microsoft.com/office/drawing/2014/main" val="2927096875"/>
                  </a:ext>
                </a:extLst>
              </a:tr>
              <a:tr h="422700">
                <a:tc>
                  <a:txBody>
                    <a:bodyPr/>
                    <a:lstStyle/>
                    <a:p>
                      <a:pPr>
                        <a:buNone/>
                      </a:pPr>
                      <a:r>
                        <a:rPr lang="en-IN"/>
                        <a:t>5</a:t>
                      </a:r>
                    </a:p>
                  </a:txBody>
                  <a:tcPr anchor="ctr"/>
                </a:tc>
                <a:tc>
                  <a:txBody>
                    <a:bodyPr/>
                    <a:lstStyle/>
                    <a:p>
                      <a:pPr>
                        <a:buNone/>
                      </a:pPr>
                      <a:r>
                        <a:rPr lang="en-IN"/>
                        <a:t>Dataset Type</a:t>
                      </a:r>
                    </a:p>
                  </a:txBody>
                  <a:tcPr anchor="ctr"/>
                </a:tc>
                <a:tc>
                  <a:txBody>
                    <a:bodyPr/>
                    <a:lstStyle/>
                    <a:p>
                      <a:pPr>
                        <a:buNone/>
                      </a:pPr>
                      <a:r>
                        <a:rPr lang="en-IN"/>
                        <a:t>Academic Institutional Data</a:t>
                      </a:r>
                    </a:p>
                  </a:txBody>
                  <a:tcPr anchor="ctr"/>
                </a:tc>
                <a:extLst>
                  <a:ext uri="{0D108BD9-81ED-4DB2-BD59-A6C34878D82A}">
                    <a16:rowId xmlns:a16="http://schemas.microsoft.com/office/drawing/2014/main" val="2682055013"/>
                  </a:ext>
                </a:extLst>
              </a:tr>
              <a:tr h="422700">
                <a:tc>
                  <a:txBody>
                    <a:bodyPr/>
                    <a:lstStyle/>
                    <a:p>
                      <a:pPr>
                        <a:buNone/>
                      </a:pPr>
                      <a:r>
                        <a:rPr lang="en-IN"/>
                        <a:t>6</a:t>
                      </a:r>
                    </a:p>
                  </a:txBody>
                  <a:tcPr anchor="ctr"/>
                </a:tc>
                <a:tc>
                  <a:txBody>
                    <a:bodyPr/>
                    <a:lstStyle/>
                    <a:p>
                      <a:pPr>
                        <a:buNone/>
                      </a:pPr>
                      <a:r>
                        <a:rPr lang="en-IN"/>
                        <a:t>Source</a:t>
                      </a:r>
                    </a:p>
                  </a:txBody>
                  <a:tcPr anchor="ctr"/>
                </a:tc>
                <a:tc>
                  <a:txBody>
                    <a:bodyPr/>
                    <a:lstStyle/>
                    <a:p>
                      <a:pPr>
                        <a:buNone/>
                      </a:pPr>
                      <a:r>
                        <a:rPr lang="en-IN"/>
                        <a:t>MITS Official Information</a:t>
                      </a:r>
                    </a:p>
                  </a:txBody>
                  <a:tcPr anchor="ctr"/>
                </a:tc>
                <a:extLst>
                  <a:ext uri="{0D108BD9-81ED-4DB2-BD59-A6C34878D82A}">
                    <a16:rowId xmlns:a16="http://schemas.microsoft.com/office/drawing/2014/main" val="615202104"/>
                  </a:ext>
                </a:extLst>
              </a:tr>
              <a:tr h="422700">
                <a:tc>
                  <a:txBody>
                    <a:bodyPr/>
                    <a:lstStyle/>
                    <a:p>
                      <a:pPr>
                        <a:buNone/>
                      </a:pPr>
                      <a:r>
                        <a:rPr lang="en-IN"/>
                        <a:t>7</a:t>
                      </a:r>
                    </a:p>
                  </a:txBody>
                  <a:tcPr anchor="ctr"/>
                </a:tc>
                <a:tc>
                  <a:txBody>
                    <a:bodyPr/>
                    <a:lstStyle/>
                    <a:p>
                      <a:pPr>
                        <a:buNone/>
                      </a:pPr>
                      <a:r>
                        <a:rPr lang="en-IN"/>
                        <a:t>Coverage</a:t>
                      </a:r>
                    </a:p>
                  </a:txBody>
                  <a:tcPr anchor="ctr"/>
                </a:tc>
                <a:tc>
                  <a:txBody>
                    <a:bodyPr/>
                    <a:lstStyle/>
                    <a:p>
                      <a:pPr>
                        <a:buNone/>
                      </a:pPr>
                      <a:r>
                        <a:rPr lang="en-IN" dirty="0"/>
                        <a:t>UG, PG, PhD, Admissions, Facilities, Placements, Events</a:t>
                      </a:r>
                    </a:p>
                  </a:txBody>
                  <a:tcPr anchor="ctr"/>
                </a:tc>
                <a:extLst>
                  <a:ext uri="{0D108BD9-81ED-4DB2-BD59-A6C34878D82A}">
                    <a16:rowId xmlns:a16="http://schemas.microsoft.com/office/drawing/2014/main" val="906123576"/>
                  </a:ext>
                </a:extLst>
              </a:tr>
            </a:tbl>
          </a:graphicData>
        </a:graphic>
      </p:graphicFrame>
      <p:pic>
        <p:nvPicPr>
          <p:cNvPr id="10" name="Picture 9">
            <a:extLst>
              <a:ext uri="{FF2B5EF4-FFF2-40B4-BE49-F238E27FC236}">
                <a16:creationId xmlns:a16="http://schemas.microsoft.com/office/drawing/2014/main" id="{6D083E56-367A-E387-CBAB-80195D89D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11" name="TextBox 10">
            <a:extLst>
              <a:ext uri="{FF2B5EF4-FFF2-40B4-BE49-F238E27FC236}">
                <a16:creationId xmlns:a16="http://schemas.microsoft.com/office/drawing/2014/main" id="{EB404231-3963-061C-E0A5-196A28478856}"/>
              </a:ext>
            </a:extLst>
          </p:cNvPr>
          <p:cNvSpPr txBox="1"/>
          <p:nvPr/>
        </p:nvSpPr>
        <p:spPr>
          <a:xfrm>
            <a:off x="2753031" y="142814"/>
            <a:ext cx="9296729"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7196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3EC28-5861-8872-1F8B-7AEFE4E94DDB}"/>
              </a:ext>
            </a:extLst>
          </p:cNvPr>
          <p:cNvSpPr>
            <a:spLocks noGrp="1"/>
          </p:cNvSpPr>
          <p:nvPr>
            <p:ph idx="1"/>
          </p:nvPr>
        </p:nvSpPr>
        <p:spPr>
          <a:xfrm>
            <a:off x="492230" y="1379757"/>
            <a:ext cx="10861570" cy="4797206"/>
          </a:xfrm>
          <a:ln>
            <a:solidFill>
              <a:schemeClr val="tx1"/>
            </a:solidFill>
          </a:ln>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1.Data Preparation Module</a:t>
            </a:r>
            <a:endParaRPr lang="en-IN" sz="24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Creates structured college data. Saves and loads data in JSON format</a:t>
            </a:r>
          </a:p>
          <a:p>
            <a:pPr marL="0" indent="0">
              <a:buNone/>
            </a:pPr>
            <a:r>
              <a:rPr lang="en-US" sz="2400" b="1" dirty="0">
                <a:latin typeface="Times New Roman" panose="02020603050405020304" pitchFamily="18" charset="0"/>
                <a:cs typeface="Times New Roman" panose="02020603050405020304" pitchFamily="18" charset="0"/>
              </a:rPr>
              <a:t>2.Text Chunking Module</a:t>
            </a:r>
          </a:p>
          <a:p>
            <a:pPr marL="0" indent="0">
              <a:buNone/>
            </a:pPr>
            <a:r>
              <a:rPr lang="en-US" sz="1800" dirty="0">
                <a:latin typeface="Times New Roman" panose="02020603050405020304" pitchFamily="18" charset="0"/>
                <a:cs typeface="Times New Roman" panose="02020603050405020304" pitchFamily="18" charset="0"/>
              </a:rPr>
              <a:t>Splits data into smaller chunks. Adds metadata for better search</a:t>
            </a:r>
          </a:p>
          <a:p>
            <a:pPr marL="0" indent="0">
              <a:buNone/>
            </a:pPr>
            <a:r>
              <a:rPr lang="en-US" sz="2400" b="1" dirty="0">
                <a:latin typeface="Times New Roman" panose="02020603050405020304" pitchFamily="18" charset="0"/>
                <a:cs typeface="Times New Roman" panose="02020603050405020304" pitchFamily="18" charset="0"/>
              </a:rPr>
              <a:t>3.Embedding &amp; Vector Store Module</a:t>
            </a:r>
          </a:p>
          <a:p>
            <a:pPr marL="0" indent="0">
              <a:buNone/>
            </a:pPr>
            <a:r>
              <a:rPr lang="en-US" sz="1800" dirty="0">
                <a:latin typeface="Times New Roman" panose="02020603050405020304" pitchFamily="18" charset="0"/>
                <a:cs typeface="Times New Roman" panose="02020603050405020304" pitchFamily="18" charset="0"/>
              </a:rPr>
              <a:t>Converts text into numerical embeddings. Builds FAISS index. Performs semantic search</a:t>
            </a:r>
          </a:p>
          <a:p>
            <a:pPr marL="0" indent="0">
              <a:buNone/>
            </a:pPr>
            <a:r>
              <a:rPr lang="en-US" sz="2400" b="1" dirty="0">
                <a:latin typeface="Times New Roman" panose="02020603050405020304" pitchFamily="18" charset="0"/>
                <a:cs typeface="Times New Roman" panose="02020603050405020304" pitchFamily="18" charset="0"/>
              </a:rPr>
              <a:t>4.LLM Generation Module</a:t>
            </a:r>
          </a:p>
          <a:p>
            <a:pPr marL="0" indent="0">
              <a:buNone/>
            </a:pPr>
            <a:r>
              <a:rPr lang="en-US" sz="1800" dirty="0">
                <a:latin typeface="Times New Roman" panose="02020603050405020304" pitchFamily="18" charset="0"/>
                <a:cs typeface="Times New Roman" panose="02020603050405020304" pitchFamily="18" charset="0"/>
              </a:rPr>
              <a:t>Takes user question + retrieved context. Generates final answer using Flan-T5 model</a:t>
            </a:r>
          </a:p>
          <a:p>
            <a:pPr marL="0" indent="0">
              <a:buNone/>
            </a:pPr>
            <a:r>
              <a:rPr lang="en-US" sz="2400" b="1" dirty="0">
                <a:latin typeface="Times New Roman" panose="02020603050405020304" pitchFamily="18" charset="0"/>
                <a:cs typeface="Times New Roman" panose="02020603050405020304" pitchFamily="18" charset="0"/>
              </a:rPr>
              <a:t>5.RAG Pipeline Module</a:t>
            </a:r>
          </a:p>
          <a:p>
            <a:pPr marL="0" indent="0">
              <a:buNone/>
            </a:pPr>
            <a:r>
              <a:rPr lang="en-US" sz="1800" dirty="0">
                <a:latin typeface="Times New Roman" panose="02020603050405020304" pitchFamily="18" charset="0"/>
                <a:cs typeface="Times New Roman" panose="02020603050405020304" pitchFamily="18" charset="0"/>
              </a:rPr>
              <a:t>Combines retrieval and generation. Returns final response to user</a:t>
            </a:r>
          </a:p>
          <a:p>
            <a:pPr marL="0" indent="0">
              <a:buNone/>
            </a:pPr>
            <a:r>
              <a:rPr lang="en-US" sz="2400" b="1" dirty="0">
                <a:latin typeface="Times New Roman" panose="02020603050405020304" pitchFamily="18" charset="0"/>
                <a:cs typeface="Times New Roman" panose="02020603050405020304" pitchFamily="18" charset="0"/>
              </a:rPr>
              <a:t>6.Main Execution Module</a:t>
            </a:r>
          </a:p>
          <a:p>
            <a:pPr marL="0" indent="0">
              <a:buNone/>
            </a:pPr>
            <a:r>
              <a:rPr lang="en-US" sz="1800" dirty="0">
                <a:latin typeface="Times New Roman" panose="02020603050405020304" pitchFamily="18" charset="0"/>
                <a:cs typeface="Times New Roman" panose="02020603050405020304" pitchFamily="18" charset="0"/>
              </a:rPr>
              <a:t>Initializes all components. Runs sample queries. Starts interactive chatbot</a:t>
            </a:r>
          </a:p>
        </p:txBody>
      </p:sp>
      <p:sp>
        <p:nvSpPr>
          <p:cNvPr id="4" name="Slide Number Placeholder 3">
            <a:extLst>
              <a:ext uri="{FF2B5EF4-FFF2-40B4-BE49-F238E27FC236}">
                <a16:creationId xmlns:a16="http://schemas.microsoft.com/office/drawing/2014/main" id="{ECC8B449-9642-332A-9F2F-29BA4E5F2C36}"/>
              </a:ext>
            </a:extLst>
          </p:cNvPr>
          <p:cNvSpPr>
            <a:spLocks noGrp="1"/>
          </p:cNvSpPr>
          <p:nvPr>
            <p:ph type="sldNum" sz="quarter" idx="12"/>
          </p:nvPr>
        </p:nvSpPr>
        <p:spPr/>
        <p:txBody>
          <a:bodyPr/>
          <a:lstStyle/>
          <a:p>
            <a:fld id="{465B6183-8A9B-4479-A92F-19E2694DB44A}" type="slidenum">
              <a:rPr lang="en-IN" smtClean="0"/>
              <a:t>18</a:t>
            </a:fld>
            <a:endParaRPr lang="en-IN"/>
          </a:p>
        </p:txBody>
      </p:sp>
      <p:pic>
        <p:nvPicPr>
          <p:cNvPr id="5" name="Picture 4">
            <a:extLst>
              <a:ext uri="{FF2B5EF4-FFF2-40B4-BE49-F238E27FC236}">
                <a16:creationId xmlns:a16="http://schemas.microsoft.com/office/drawing/2014/main" id="{2263F668-E904-0961-9E86-B88816E64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7" name="TextBox 6">
            <a:extLst>
              <a:ext uri="{FF2B5EF4-FFF2-40B4-BE49-F238E27FC236}">
                <a16:creationId xmlns:a16="http://schemas.microsoft.com/office/drawing/2014/main" id="{ECF9BE9C-4A18-23D3-38DC-92CD78DD208C}"/>
              </a:ext>
            </a:extLst>
          </p:cNvPr>
          <p:cNvSpPr txBox="1"/>
          <p:nvPr/>
        </p:nvSpPr>
        <p:spPr>
          <a:xfrm>
            <a:off x="2812025" y="142815"/>
            <a:ext cx="9237735"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4773E87-AEAC-EEBC-696B-AACF92BCC739}"/>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Functional Modules</a:t>
            </a:r>
          </a:p>
        </p:txBody>
      </p:sp>
    </p:spTree>
    <p:extLst>
      <p:ext uri="{BB962C8B-B14F-4D97-AF65-F5344CB8AC3E}">
        <p14:creationId xmlns:p14="http://schemas.microsoft.com/office/powerpoint/2010/main" val="1739627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7A875C-A0B7-0032-F843-ED546A1D46EF}"/>
              </a:ext>
            </a:extLst>
          </p:cNvPr>
          <p:cNvSpPr>
            <a:spLocks noGrp="1"/>
          </p:cNvSpPr>
          <p:nvPr>
            <p:ph type="sldNum" sz="quarter" idx="12"/>
          </p:nvPr>
        </p:nvSpPr>
        <p:spPr/>
        <p:txBody>
          <a:bodyPr/>
          <a:lstStyle/>
          <a:p>
            <a:fld id="{465B6183-8A9B-4479-A92F-19E2694DB44A}" type="slidenum">
              <a:rPr lang="en-IN" smtClean="0"/>
              <a:t>19</a:t>
            </a:fld>
            <a:endParaRPr lang="en-IN"/>
          </a:p>
        </p:txBody>
      </p:sp>
      <p:pic>
        <p:nvPicPr>
          <p:cNvPr id="5" name="Picture 4">
            <a:extLst>
              <a:ext uri="{FF2B5EF4-FFF2-40B4-BE49-F238E27FC236}">
                <a16:creationId xmlns:a16="http://schemas.microsoft.com/office/drawing/2014/main" id="{E8886E45-BE1F-740B-98E4-66E8E0017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A79073A0-B341-F0F8-5BE3-A7591C174AB3}"/>
              </a:ext>
            </a:extLst>
          </p:cNvPr>
          <p:cNvSpPr txBox="1"/>
          <p:nvPr/>
        </p:nvSpPr>
        <p:spPr>
          <a:xfrm>
            <a:off x="2979174" y="152647"/>
            <a:ext cx="907058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54D73215-DEC7-73E0-8056-CD8BEABF98C1}"/>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Architecture</a:t>
            </a:r>
          </a:p>
        </p:txBody>
      </p:sp>
      <p:pic>
        <p:nvPicPr>
          <p:cNvPr id="9" name="Content Placeholder 8">
            <a:extLst>
              <a:ext uri="{FF2B5EF4-FFF2-40B4-BE49-F238E27FC236}">
                <a16:creationId xmlns:a16="http://schemas.microsoft.com/office/drawing/2014/main" id="{775DA969-E366-1FA3-3745-38BBC634331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53334" y="1461949"/>
            <a:ext cx="7485332" cy="4990221"/>
          </a:xfrm>
          <a:prstGeom prst="rect">
            <a:avLst/>
          </a:prstGeom>
        </p:spPr>
      </p:pic>
      <p:sp>
        <p:nvSpPr>
          <p:cNvPr id="11" name="Content Placeholder 2">
            <a:extLst>
              <a:ext uri="{FF2B5EF4-FFF2-40B4-BE49-F238E27FC236}">
                <a16:creationId xmlns:a16="http://schemas.microsoft.com/office/drawing/2014/main" id="{9176F8C4-9728-CC55-8A53-50EAAC23D210}"/>
              </a:ext>
            </a:extLst>
          </p:cNvPr>
          <p:cNvSpPr txBox="1">
            <a:spLocks/>
          </p:cNvSpPr>
          <p:nvPr/>
        </p:nvSpPr>
        <p:spPr>
          <a:xfrm>
            <a:off x="492229" y="1379756"/>
            <a:ext cx="11179213" cy="482143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290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4DC29-CE19-DFD2-BDE1-E96E639B91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701014-5EB3-AE59-ED4B-2D17514D35E4}"/>
              </a:ext>
            </a:extLst>
          </p:cNvPr>
          <p:cNvSpPr>
            <a:spLocks noGrp="1"/>
          </p:cNvSpPr>
          <p:nvPr>
            <p:ph type="sldNum" sz="quarter" idx="12"/>
          </p:nvPr>
        </p:nvSpPr>
        <p:spPr/>
        <p:txBody>
          <a:bodyPr/>
          <a:lstStyle/>
          <a:p>
            <a:fld id="{465B6183-8A9B-4479-A92F-19E2694DB44A}" type="slidenum">
              <a:rPr lang="en-IN" smtClean="0"/>
              <a:t>20</a:t>
            </a:fld>
            <a:endParaRPr lang="en-IN"/>
          </a:p>
        </p:txBody>
      </p:sp>
      <p:pic>
        <p:nvPicPr>
          <p:cNvPr id="5" name="Picture 4">
            <a:extLst>
              <a:ext uri="{FF2B5EF4-FFF2-40B4-BE49-F238E27FC236}">
                <a16:creationId xmlns:a16="http://schemas.microsoft.com/office/drawing/2014/main" id="{B9C9C02A-59B9-5DFE-32A5-A8561D5D66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6" name="TextBox 5">
            <a:extLst>
              <a:ext uri="{FF2B5EF4-FFF2-40B4-BE49-F238E27FC236}">
                <a16:creationId xmlns:a16="http://schemas.microsoft.com/office/drawing/2014/main" id="{2B8F92C8-FED5-50F2-6B8B-827ACEC89A26}"/>
              </a:ext>
            </a:extLst>
          </p:cNvPr>
          <p:cNvSpPr txBox="1"/>
          <p:nvPr/>
        </p:nvSpPr>
        <p:spPr>
          <a:xfrm>
            <a:off x="2989006" y="142815"/>
            <a:ext cx="906075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7C5FB5F-E137-B8FD-A2A2-E1E7C1CBADEE}"/>
              </a:ext>
            </a:extLst>
          </p:cNvPr>
          <p:cNvSpPr txBox="1"/>
          <p:nvPr/>
        </p:nvSpPr>
        <p:spPr>
          <a:xfrm>
            <a:off x="521726"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Algorithm</a:t>
            </a:r>
          </a:p>
        </p:txBody>
      </p:sp>
      <p:pic>
        <p:nvPicPr>
          <p:cNvPr id="20" name="Content Placeholder 19">
            <a:extLst>
              <a:ext uri="{FF2B5EF4-FFF2-40B4-BE49-F238E27FC236}">
                <a16:creationId xmlns:a16="http://schemas.microsoft.com/office/drawing/2014/main" id="{1B74BD52-1F74-F4B1-FEEC-00F381D62A7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84144" y="2008530"/>
            <a:ext cx="6425807" cy="3470809"/>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44D2956-5DA7-E2FA-A4CF-EFBB7306E295}"/>
                  </a:ext>
                </a:extLst>
              </p:cNvPr>
              <p:cNvSpPr txBox="1"/>
              <p:nvPr/>
            </p:nvSpPr>
            <p:spPr>
              <a:xfrm>
                <a:off x="521726" y="1608992"/>
                <a:ext cx="5753528" cy="343889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 Data Ingestion &amp; Preprocessing</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 structured academic data (JSON format)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Apply </a:t>
                </a:r>
                <a:r>
                  <a:rPr lang="en-IN" b="1" dirty="0">
                    <a:latin typeface="Times New Roman" panose="02020603050405020304" pitchFamily="18" charset="0"/>
                    <a:cs typeface="Times New Roman" panose="02020603050405020304" pitchFamily="18" charset="0"/>
                  </a:rPr>
                  <a:t>direct semantic chunking</a:t>
                </a:r>
                <a:r>
                  <a:rPr lang="en-IN" dirty="0">
                    <a:latin typeface="Times New Roman" panose="02020603050405020304" pitchFamily="18" charset="0"/>
                    <a:cs typeface="Times New Roman" panose="02020603050405020304" pitchFamily="18" charset="0"/>
                  </a:rPr>
                  <a:t> (preserves context)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 data integrity for courses, admissions, policies </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Embedding Generation</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Convert text chunks → vector embeddings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 </a:t>
                </a:r>
                <a:r>
                  <a:rPr lang="en-IN" b="1" dirty="0">
                    <a:latin typeface="Times New Roman" panose="02020603050405020304" pitchFamily="18" charset="0"/>
                    <a:cs typeface="Times New Roman" panose="02020603050405020304" pitchFamily="18" charset="0"/>
                  </a:rPr>
                  <a:t>Sentence-Transformers (all-MiniLM-L6-v2)</a:t>
                </a:r>
                <a:r>
                  <a:rPr lang="en-IN"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Output: High-dimensional semantic vectors </a:t>
                </a:r>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𝑒𝑚𝑏𝑒𝑑𝑑𝑖𝑛𝑔</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𝑖</m:t>
                              </m:r>
                            </m:sub>
                          </m:sSub>
                        </m:e>
                      </m:d>
                    </m:oMath>
                  </m:oMathPara>
                </a14:m>
                <a:endParaRPr lang="ar-AE"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C44D2956-5DA7-E2FA-A4CF-EFBB7306E295}"/>
                  </a:ext>
                </a:extLst>
              </p:cNvPr>
              <p:cNvSpPr txBox="1">
                <a:spLocks noRot="1" noChangeAspect="1" noMove="1" noResize="1" noEditPoints="1" noAdjustHandles="1" noChangeArrowheads="1" noChangeShapeType="1" noTextEdit="1"/>
              </p:cNvSpPr>
              <p:nvPr/>
            </p:nvSpPr>
            <p:spPr>
              <a:xfrm>
                <a:off x="521726" y="1608992"/>
                <a:ext cx="5753528" cy="3438890"/>
              </a:xfrm>
              <a:prstGeom prst="rect">
                <a:avLst/>
              </a:prstGeom>
              <a:blipFill>
                <a:blip r:embed="rId4"/>
                <a:stretch>
                  <a:fillRect l="-954" t="-1064"/>
                </a:stretch>
              </a:blipFill>
            </p:spPr>
            <p:txBody>
              <a:bodyPr/>
              <a:lstStyle/>
              <a:p>
                <a:r>
                  <a:rPr lang="en-IN">
                    <a:noFill/>
                  </a:rPr>
                  <a:t> </a:t>
                </a:r>
              </a:p>
            </p:txBody>
          </p:sp>
        </mc:Fallback>
      </mc:AlternateContent>
      <p:sp>
        <p:nvSpPr>
          <p:cNvPr id="24" name="Content Placeholder 2">
            <a:extLst>
              <a:ext uri="{FF2B5EF4-FFF2-40B4-BE49-F238E27FC236}">
                <a16:creationId xmlns:a16="http://schemas.microsoft.com/office/drawing/2014/main" id="{A737BF2B-A0BD-B147-3867-AE79B252C153}"/>
              </a:ext>
            </a:extLst>
          </p:cNvPr>
          <p:cNvSpPr txBox="1">
            <a:spLocks/>
          </p:cNvSpPr>
          <p:nvPr/>
        </p:nvSpPr>
        <p:spPr>
          <a:xfrm>
            <a:off x="492230" y="1379757"/>
            <a:ext cx="11178044" cy="481556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4376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AF8D9-BCED-081C-DF5C-2730FA9367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C4E5A8-568A-9EA6-415D-FB78688891B9}"/>
              </a:ext>
            </a:extLst>
          </p:cNvPr>
          <p:cNvSpPr>
            <a:spLocks noGrp="1"/>
          </p:cNvSpPr>
          <p:nvPr>
            <p:ph type="sldNum" sz="quarter" idx="12"/>
          </p:nvPr>
        </p:nvSpPr>
        <p:spPr/>
        <p:txBody>
          <a:bodyPr/>
          <a:lstStyle/>
          <a:p>
            <a:fld id="{465B6183-8A9B-4479-A92F-19E2694DB44A}" type="slidenum">
              <a:rPr lang="en-IN" smtClean="0"/>
              <a:t>21</a:t>
            </a:fld>
            <a:endParaRPr lang="en-IN"/>
          </a:p>
        </p:txBody>
      </p:sp>
      <p:pic>
        <p:nvPicPr>
          <p:cNvPr id="5" name="Picture 4">
            <a:extLst>
              <a:ext uri="{FF2B5EF4-FFF2-40B4-BE49-F238E27FC236}">
                <a16:creationId xmlns:a16="http://schemas.microsoft.com/office/drawing/2014/main" id="{F9EEC730-ADC5-513A-A53B-BD35AEB0E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6" name="TextBox 5">
            <a:extLst>
              <a:ext uri="{FF2B5EF4-FFF2-40B4-BE49-F238E27FC236}">
                <a16:creationId xmlns:a16="http://schemas.microsoft.com/office/drawing/2014/main" id="{615635C7-6557-8D2E-17D4-AC78FF8BEACC}"/>
              </a:ext>
            </a:extLst>
          </p:cNvPr>
          <p:cNvSpPr txBox="1"/>
          <p:nvPr/>
        </p:nvSpPr>
        <p:spPr>
          <a:xfrm>
            <a:off x="2989006" y="142815"/>
            <a:ext cx="906075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EFC2BF8-6339-B6BC-40F7-A389EAA3643E}"/>
              </a:ext>
            </a:extLst>
          </p:cNvPr>
          <p:cNvSpPr txBox="1"/>
          <p:nvPr/>
        </p:nvSpPr>
        <p:spPr>
          <a:xfrm>
            <a:off x="521726"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Algorithm</a:t>
            </a:r>
          </a:p>
        </p:txBody>
      </p:sp>
      <p:pic>
        <p:nvPicPr>
          <p:cNvPr id="9" name="Picture 8">
            <a:extLst>
              <a:ext uri="{FF2B5EF4-FFF2-40B4-BE49-F238E27FC236}">
                <a16:creationId xmlns:a16="http://schemas.microsoft.com/office/drawing/2014/main" id="{428B9630-1BAD-D7C4-2675-C1293373E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3525" y="3871691"/>
            <a:ext cx="4956750" cy="2617381"/>
          </a:xfrm>
          <a:prstGeom prst="rect">
            <a:avLst/>
          </a:prstGeom>
        </p:spPr>
      </p:pic>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60B03E57-B758-C140-3625-68DD7D6AFFB9}"/>
                  </a:ext>
                </a:extLst>
              </p:cNvPr>
              <p:cNvSpPr>
                <a:spLocks noGrp="1"/>
              </p:cNvSpPr>
              <p:nvPr>
                <p:ph idx="1"/>
              </p:nvPr>
            </p:nvSpPr>
            <p:spPr>
              <a:xfrm>
                <a:off x="521725" y="1368596"/>
                <a:ext cx="8529807" cy="5170316"/>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3. Vector Indexing (FAISS)</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Store embeddings using </a:t>
                </a:r>
                <a:r>
                  <a:rPr lang="en-IN" sz="1800" b="1" dirty="0">
                    <a:latin typeface="Times New Roman" panose="02020603050405020304" pitchFamily="18" charset="0"/>
                    <a:cs typeface="Times New Roman" panose="02020603050405020304" pitchFamily="18" charset="0"/>
                  </a:rPr>
                  <a:t>FAISS IndexFlatL2</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Enables fast similarity search on CPU </a:t>
                </a:r>
              </a:p>
              <a:p>
                <a:r>
                  <a:rPr lang="en-IN" sz="1800" dirty="0">
                    <a:latin typeface="Times New Roman" panose="02020603050405020304" pitchFamily="18" charset="0"/>
                    <a:cs typeface="Times New Roman" panose="02020603050405020304" pitchFamily="18" charset="0"/>
                  </a:rPr>
                  <a:t>Optimized for low-resource environments </a:t>
                </a:r>
              </a:p>
              <a:p>
                <a:pPr marL="0" indent="0">
                  <a:buNone/>
                </a:pPr>
                <a:r>
                  <a:rPr lang="en-IN" sz="1800" b="1" dirty="0">
                    <a:latin typeface="Times New Roman" panose="02020603050405020304" pitchFamily="18" charset="0"/>
                    <a:cs typeface="Times New Roman" panose="02020603050405020304" pitchFamily="18" charset="0"/>
                  </a:rPr>
                  <a:t>5. Semantic Retrieval (Top-K)</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Retrieve </a:t>
                </a:r>
                <a:r>
                  <a:rPr lang="en-IN" sz="1800" b="1" dirty="0">
                    <a:latin typeface="Times New Roman" panose="02020603050405020304" pitchFamily="18" charset="0"/>
                    <a:cs typeface="Times New Roman" panose="02020603050405020304" pitchFamily="18" charset="0"/>
                  </a:rPr>
                  <a:t>Top-K nearest chunks</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Ensures only relevant academic context is selected </a:t>
                </a:r>
              </a:p>
              <a:p>
                <a:pPr marL="0" indent="0">
                  <a:buNone/>
                </a:pPr>
                <a:r>
                  <a:rPr lang="en-IN" sz="1800" dirty="0">
                    <a:latin typeface="Times New Roman" panose="02020603050405020304" pitchFamily="18" charset="0"/>
                    <a:cs typeface="Times New Roman" panose="02020603050405020304" pitchFamily="18" charset="0"/>
                  </a:rPr>
                  <a:t>Forms </a:t>
                </a:r>
                <a:r>
                  <a:rPr lang="en-IN" sz="1800" b="1" dirty="0">
                    <a:latin typeface="Times New Roman" panose="02020603050405020304" pitchFamily="18" charset="0"/>
                    <a:cs typeface="Times New Roman" panose="02020603050405020304" pitchFamily="18" charset="0"/>
                  </a:rPr>
                  <a:t>trusted context (C)</a:t>
                </a: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4. Query Processing</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User query → converted to query vector </a:t>
                </a:r>
              </a:p>
              <a:p>
                <a:r>
                  <a:rPr lang="en-IN" sz="1800" dirty="0">
                    <a:latin typeface="Times New Roman" panose="02020603050405020304" pitchFamily="18" charset="0"/>
                    <a:cs typeface="Times New Roman" panose="02020603050405020304" pitchFamily="18" charset="0"/>
                  </a:rPr>
                  <a:t>Compute similarity using </a:t>
                </a:r>
                <a:r>
                  <a:rPr lang="en-IN" sz="1800" b="1" dirty="0">
                    <a:latin typeface="Times New Roman" panose="02020603050405020304" pitchFamily="18" charset="0"/>
                    <a:cs typeface="Times New Roman" panose="02020603050405020304" pitchFamily="18" charset="0"/>
                  </a:rPr>
                  <a:t>L2 distance</a:t>
                </a:r>
                <a:r>
                  <a:rPr lang="en-IN" sz="1800" dirty="0">
                    <a:latin typeface="Times New Roman" panose="02020603050405020304" pitchFamily="18" charset="0"/>
                    <a:cs typeface="Times New Roman" panose="02020603050405020304" pitchFamily="18" charset="0"/>
                  </a:rPr>
                  <a:t> </a:t>
                </a:r>
              </a:p>
              <a:p>
                <a:pPr marL="0" indent="0">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𝑑</m:t>
                      </m:r>
                      <m:d>
                        <m:dPr>
                          <m:sepChr m:val=","/>
                          <m:ctrlPr>
                            <a:rPr lang="ar-AE" sz="1800" i="1">
                              <a:latin typeface="Cambria Math" panose="02040503050406030204" pitchFamily="18" charset="0"/>
                            </a:rPr>
                          </m:ctrlPr>
                        </m:dPr>
                        <m:e>
                          <m:r>
                            <a:rPr lang="ar-AE" sz="1800" i="1">
                              <a:latin typeface="Cambria Math" panose="02040503050406030204" pitchFamily="18" charset="0"/>
                            </a:rPr>
                            <m:t>𝑞</m:t>
                          </m:r>
                        </m:e>
                        <m:e>
                          <m:sSub>
                            <m:sSubPr>
                              <m:ctrlPr>
                                <a:rPr lang="ar-AE" sz="1800" i="1">
                                  <a:latin typeface="Cambria Math" panose="02040503050406030204" pitchFamily="18" charset="0"/>
                                </a:rPr>
                              </m:ctrlPr>
                            </m:sSubPr>
                            <m:e>
                              <m:r>
                                <a:rPr lang="ar-AE" sz="1800" i="1">
                                  <a:latin typeface="Cambria Math" panose="02040503050406030204" pitchFamily="18" charset="0"/>
                                </a:rPr>
                                <m:t>𝑣</m:t>
                              </m:r>
                            </m:e>
                            <m:sub>
                              <m:r>
                                <a:rPr lang="ar-AE" sz="1800" i="1">
                                  <a:latin typeface="Cambria Math" panose="02040503050406030204" pitchFamily="18" charset="0"/>
                                </a:rPr>
                                <m:t>𝑖</m:t>
                              </m:r>
                            </m:sub>
                          </m:sSub>
                        </m:e>
                      </m:d>
                      <m:r>
                        <a:rPr lang="ar-AE" sz="1800">
                          <a:latin typeface="Cambria Math" panose="02040503050406030204" pitchFamily="18" charset="0"/>
                        </a:rPr>
                        <m:t>=</m:t>
                      </m:r>
                      <m:rad>
                        <m:radPr>
                          <m:degHide m:val="on"/>
                          <m:ctrlPr>
                            <a:rPr lang="ar-AE" sz="1800" i="1">
                              <a:latin typeface="Cambria Math" panose="02040503050406030204" pitchFamily="18" charset="0"/>
                            </a:rPr>
                          </m:ctrlPr>
                        </m:radPr>
                        <m:deg/>
                        <m:e>
                          <m:nary>
                            <m:naryPr>
                              <m:chr m:val="∑"/>
                              <m:grow m:val="on"/>
                              <m:subHide m:val="on"/>
                              <m:supHide m:val="on"/>
                              <m:ctrlPr>
                                <a:rPr lang="ar-AE" sz="1800" i="1">
                                  <a:latin typeface="Cambria Math" panose="02040503050406030204" pitchFamily="18" charset="0"/>
                                </a:rPr>
                              </m:ctrlPr>
                            </m:naryPr>
                            <m:sub/>
                            <m:sup/>
                            <m:e>
                              <m:r>
                                <a:rPr lang="ar-AE" sz="1800">
                                  <a:latin typeface="Cambria Math" panose="02040503050406030204" pitchFamily="18" charset="0"/>
                                </a:rPr>
                                <m:t>(</m:t>
                              </m:r>
                            </m:e>
                          </m:nary>
                          <m:d>
                            <m:dPr>
                              <m:begChr m:val=""/>
                              <m:endChr m:val=""/>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i="1">
                                      <a:latin typeface="Cambria Math" panose="02040503050406030204" pitchFamily="18" charset="0"/>
                                    </a:rPr>
                                    <m:t>𝑞</m:t>
                                  </m:r>
                                </m:e>
                                <m:sub>
                                  <m:r>
                                    <a:rPr lang="ar-AE" sz="1800" i="1">
                                      <a:latin typeface="Cambria Math" panose="02040503050406030204" pitchFamily="18" charset="0"/>
                                    </a:rPr>
                                    <m:t>𝑗</m:t>
                                  </m:r>
                                </m:sub>
                              </m:sSub>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i="1">
                                      <a:latin typeface="Cambria Math" panose="02040503050406030204" pitchFamily="18" charset="0"/>
                                    </a:rPr>
                                    <m:t>𝑣</m:t>
                                  </m:r>
                                </m:e>
                                <m:sub>
                                  <m:r>
                                    <a:rPr lang="ar-AE" sz="1800" i="1">
                                      <a:latin typeface="Cambria Math" panose="02040503050406030204" pitchFamily="18" charset="0"/>
                                    </a:rPr>
                                    <m:t>𝑖</m:t>
                                  </m:r>
                                  <m:r>
                                    <a:rPr lang="ar-AE" sz="1800">
                                      <a:latin typeface="Cambria Math" panose="02040503050406030204" pitchFamily="18" charset="0"/>
                                    </a:rPr>
                                    <m:t>,</m:t>
                                  </m:r>
                                  <m:r>
                                    <a:rPr lang="ar-AE" sz="1800" i="1">
                                      <a:latin typeface="Cambria Math" panose="02040503050406030204" pitchFamily="18" charset="0"/>
                                    </a:rPr>
                                    <m:t>𝑗</m:t>
                                  </m:r>
                                </m:sub>
                              </m:sSub>
                              <m:sSup>
                                <m:sSupPr>
                                  <m:ctrlPr>
                                    <a:rPr lang="ar-AE" sz="1800" i="1">
                                      <a:latin typeface="Cambria Math" panose="02040503050406030204" pitchFamily="18" charset="0"/>
                                    </a:rPr>
                                  </m:ctrlPr>
                                </m:sSupPr>
                                <m:e>
                                  <m:d>
                                    <m:dPr>
                                      <m:begChr m:val=""/>
                                      <m:endChr m:val=""/>
                                      <m:ctrlPr>
                                        <a:rPr lang="ar-AE" sz="1800" i="1">
                                          <a:latin typeface="Cambria Math" panose="02040503050406030204" pitchFamily="18" charset="0"/>
                                        </a:rPr>
                                      </m:ctrlPr>
                                    </m:dPr>
                                    <m:e>
                                      <m:r>
                                        <a:rPr lang="ar-AE" sz="1800">
                                          <a:latin typeface="Cambria Math" panose="02040503050406030204" pitchFamily="18" charset="0"/>
                                        </a:rPr>
                                        <m:t>)</m:t>
                                      </m:r>
                                    </m:e>
                                  </m:d>
                                </m:e>
                                <m:sup>
                                  <m:r>
                                    <a:rPr lang="ar-AE" sz="1800">
                                      <a:latin typeface="Cambria Math" panose="02040503050406030204" pitchFamily="18" charset="0"/>
                                    </a:rPr>
                                    <m:t>2</m:t>
                                  </m:r>
                                </m:sup>
                              </m:sSup>
                            </m:e>
                          </m:d>
                        </m:e>
                      </m:rad>
                    </m:oMath>
                  </m:oMathPara>
                </a14:m>
                <a:endParaRPr lang="ar-AE"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mc:Choice>
        <mc:Fallback xmlns="">
          <p:sp>
            <p:nvSpPr>
              <p:cNvPr id="12" name="Content Placeholder 11">
                <a:extLst>
                  <a:ext uri="{FF2B5EF4-FFF2-40B4-BE49-F238E27FC236}">
                    <a16:creationId xmlns:a16="http://schemas.microsoft.com/office/drawing/2014/main" id="{60B03E57-B758-C140-3625-68DD7D6AFFB9}"/>
                  </a:ext>
                </a:extLst>
              </p:cNvPr>
              <p:cNvSpPr>
                <a:spLocks noGrp="1" noRot="1" noChangeAspect="1" noMove="1" noResize="1" noEditPoints="1" noAdjustHandles="1" noChangeArrowheads="1" noChangeShapeType="1" noTextEdit="1"/>
              </p:cNvSpPr>
              <p:nvPr>
                <p:ph idx="1"/>
              </p:nvPr>
            </p:nvSpPr>
            <p:spPr>
              <a:xfrm>
                <a:off x="521725" y="1368596"/>
                <a:ext cx="8529807" cy="5170316"/>
              </a:xfrm>
              <a:blipFill>
                <a:blip r:embed="rId4"/>
                <a:stretch>
                  <a:fillRect l="-643" t="-1179"/>
                </a:stretch>
              </a:blipFill>
            </p:spPr>
            <p:txBody>
              <a:bodyPr/>
              <a:lstStyle/>
              <a:p>
                <a:r>
                  <a:rPr lang="en-IN">
                    <a:noFill/>
                  </a:rPr>
                  <a:t> </a:t>
                </a:r>
              </a:p>
            </p:txBody>
          </p:sp>
        </mc:Fallback>
      </mc:AlternateContent>
      <p:pic>
        <p:nvPicPr>
          <p:cNvPr id="13" name="Content Placeholder 8">
            <a:extLst>
              <a:ext uri="{FF2B5EF4-FFF2-40B4-BE49-F238E27FC236}">
                <a16:creationId xmlns:a16="http://schemas.microsoft.com/office/drawing/2014/main" id="{16434648-BA18-0B86-308D-8ABABE5D33C9}"/>
              </a:ext>
            </a:extLst>
          </p:cNvPr>
          <p:cNvPicPr>
            <a:picLocks noChangeAspect="1"/>
          </p:cNvPicPr>
          <p:nvPr/>
        </p:nvPicPr>
        <p:blipFill>
          <a:blip r:embed="rId5">
            <a:extLst>
              <a:ext uri="{28A0092B-C50C-407E-A947-70E740481C1C}">
                <a14:useLocalDpi xmlns:a14="http://schemas.microsoft.com/office/drawing/2010/main" val="0"/>
              </a:ext>
            </a:extLst>
          </a:blip>
          <a:srcRect b="2879"/>
          <a:stretch>
            <a:fillRect/>
          </a:stretch>
        </p:blipFill>
        <p:spPr>
          <a:xfrm>
            <a:off x="6542539" y="1124229"/>
            <a:ext cx="5271574" cy="2617381"/>
          </a:xfrm>
          <a:prstGeom prst="rect">
            <a:avLst/>
          </a:prstGeom>
        </p:spPr>
      </p:pic>
      <p:sp>
        <p:nvSpPr>
          <p:cNvPr id="15" name="Content Placeholder 2">
            <a:extLst>
              <a:ext uri="{FF2B5EF4-FFF2-40B4-BE49-F238E27FC236}">
                <a16:creationId xmlns:a16="http://schemas.microsoft.com/office/drawing/2014/main" id="{3AF36037-04D9-9584-87E2-24E585CA1D95}"/>
              </a:ext>
            </a:extLst>
          </p:cNvPr>
          <p:cNvSpPr txBox="1">
            <a:spLocks/>
          </p:cNvSpPr>
          <p:nvPr/>
        </p:nvSpPr>
        <p:spPr>
          <a:xfrm>
            <a:off x="492229" y="1306792"/>
            <a:ext cx="11321884" cy="513244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5197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6E345-8AC2-77BC-E090-85A3E8B3F2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369408-DCC2-1239-AD0B-790CBBC42252}"/>
              </a:ext>
            </a:extLst>
          </p:cNvPr>
          <p:cNvSpPr>
            <a:spLocks noGrp="1"/>
          </p:cNvSpPr>
          <p:nvPr>
            <p:ph type="sldNum" sz="quarter" idx="12"/>
          </p:nvPr>
        </p:nvSpPr>
        <p:spPr/>
        <p:txBody>
          <a:bodyPr/>
          <a:lstStyle/>
          <a:p>
            <a:fld id="{465B6183-8A9B-4479-A92F-19E2694DB44A}" type="slidenum">
              <a:rPr lang="en-IN" smtClean="0"/>
              <a:t>22</a:t>
            </a:fld>
            <a:endParaRPr lang="en-IN"/>
          </a:p>
        </p:txBody>
      </p:sp>
      <p:pic>
        <p:nvPicPr>
          <p:cNvPr id="5" name="Picture 4">
            <a:extLst>
              <a:ext uri="{FF2B5EF4-FFF2-40B4-BE49-F238E27FC236}">
                <a16:creationId xmlns:a16="http://schemas.microsoft.com/office/drawing/2014/main" id="{B4394CD0-070F-ED3F-70B7-825D2A638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6" name="TextBox 5">
            <a:extLst>
              <a:ext uri="{FF2B5EF4-FFF2-40B4-BE49-F238E27FC236}">
                <a16:creationId xmlns:a16="http://schemas.microsoft.com/office/drawing/2014/main" id="{39C52208-ADC2-2CC8-F10E-D66B981EDCD3}"/>
              </a:ext>
            </a:extLst>
          </p:cNvPr>
          <p:cNvSpPr txBox="1"/>
          <p:nvPr/>
        </p:nvSpPr>
        <p:spPr>
          <a:xfrm>
            <a:off x="3065206" y="147005"/>
            <a:ext cx="906075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06CFA83-C2F7-AB64-4B4D-CFE11D51A956}"/>
              </a:ext>
            </a:extLst>
          </p:cNvPr>
          <p:cNvSpPr txBox="1"/>
          <p:nvPr/>
        </p:nvSpPr>
        <p:spPr>
          <a:xfrm>
            <a:off x="521726"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Algorithm</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1EB492AD-2B04-2A5B-5E7F-E9A2B26940E8}"/>
                  </a:ext>
                </a:extLst>
              </p:cNvPr>
              <p:cNvSpPr>
                <a:spLocks noGrp="1"/>
              </p:cNvSpPr>
              <p:nvPr>
                <p:ph idx="1"/>
              </p:nvPr>
            </p:nvSpPr>
            <p:spPr>
              <a:xfrm>
                <a:off x="521726" y="1466030"/>
                <a:ext cx="5922196" cy="4351338"/>
              </a:xfrm>
            </p:spPr>
            <p:txBody>
              <a:bodyPr>
                <a:normAutofit fontScale="62500" lnSpcReduction="20000"/>
              </a:bodyPr>
              <a:lstStyle/>
              <a:p>
                <a:pPr marL="0" indent="0">
                  <a:buNone/>
                </a:pPr>
                <a:r>
                  <a:rPr lang="en-IN" b="1" dirty="0">
                    <a:latin typeface="Times New Roman" panose="02020603050405020304" pitchFamily="18" charset="0"/>
                    <a:cs typeface="Times New Roman" panose="02020603050405020304" pitchFamily="18" charset="0"/>
                  </a:rPr>
                  <a:t>6. Context Construction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Concatenate retrieved chunks → Context Block </a:t>
                </a:r>
              </a:p>
              <a:p>
                <a:r>
                  <a:rPr lang="en-IN" dirty="0">
                    <a:latin typeface="Times New Roman" panose="02020603050405020304" pitchFamily="18" charset="0"/>
                    <a:cs typeface="Times New Roman" panose="02020603050405020304" pitchFamily="18" charset="0"/>
                  </a:rPr>
                  <a:t>Acts as </a:t>
                </a:r>
                <a:r>
                  <a:rPr lang="en-IN" b="1" dirty="0">
                    <a:latin typeface="Times New Roman" panose="02020603050405020304" pitchFamily="18" charset="0"/>
                    <a:cs typeface="Times New Roman" panose="02020603050405020304" pitchFamily="18" charset="0"/>
                  </a:rPr>
                  <a:t>“source of truth”</a:t>
                </a:r>
                <a:r>
                  <a:rPr lang="en-IN" dirty="0">
                    <a:latin typeface="Times New Roman" panose="02020603050405020304" pitchFamily="18" charset="0"/>
                    <a:cs typeface="Times New Roman" panose="02020603050405020304" pitchFamily="18" charset="0"/>
                  </a:rPr>
                  <a:t> </a:t>
                </a:r>
              </a:p>
              <a:p>
                <a:pPr marL="0" indent="0">
                  <a:buNone/>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7. Grounded Answer Generation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Input: Query (Q) + Context (C) </a:t>
                </a:r>
              </a:p>
              <a:p>
                <a:r>
                  <a:rPr lang="en-IN" dirty="0">
                    <a:latin typeface="Times New Roman" panose="02020603050405020304" pitchFamily="18" charset="0"/>
                    <a:cs typeface="Times New Roman" panose="02020603050405020304" pitchFamily="18" charset="0"/>
                  </a:rPr>
                  <a:t>Model: </a:t>
                </a:r>
                <a:r>
                  <a:rPr lang="en-IN" b="1" dirty="0">
                    <a:latin typeface="Times New Roman" panose="02020603050405020304" pitchFamily="18" charset="0"/>
                    <a:cs typeface="Times New Roman" panose="02020603050405020304" pitchFamily="18" charset="0"/>
                  </a:rPr>
                  <a:t>Flan-T5-XL</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Uses </a:t>
                </a:r>
                <a:r>
                  <a:rPr lang="en-IN" b="1" dirty="0">
                    <a:latin typeface="Times New Roman" panose="02020603050405020304" pitchFamily="18" charset="0"/>
                    <a:cs typeface="Times New Roman" panose="02020603050405020304" pitchFamily="18" charset="0"/>
                  </a:rPr>
                  <a:t>constrained prompting</a:t>
                </a:r>
                <a:r>
                  <a:rPr lang="en-IN" dirty="0">
                    <a:latin typeface="Times New Roman" panose="02020603050405020304" pitchFamily="18" charset="0"/>
                    <a:cs typeface="Times New Roman" panose="02020603050405020304" pitchFamily="18" charset="0"/>
                  </a:rPr>
                  <a:t> </a:t>
                </a:r>
              </a:p>
              <a:p>
                <a14:m>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𝐺</m:t>
                    </m:r>
                    <m:d>
                      <m:dPr>
                        <m:ctrlPr>
                          <a:rPr lang="ar-AE" i="1">
                            <a:latin typeface="Cambria Math" panose="02040503050406030204" pitchFamily="18" charset="0"/>
                          </a:rPr>
                        </m:ctrlPr>
                      </m:dPr>
                      <m:e>
                        <m:r>
                          <a:rPr lang="ar-AE" i="1">
                            <a:latin typeface="Cambria Math" panose="02040503050406030204" pitchFamily="18" charset="0"/>
                          </a:rPr>
                          <m:t>𝑃𝑟𝑜𝑚𝑝𝑡</m:t>
                        </m:r>
                        <m:d>
                          <m:dPr>
                            <m:sepChr m:val=","/>
                            <m:ctrlPr>
                              <a:rPr lang="ar-AE" i="1">
                                <a:latin typeface="Cambria Math" panose="02040503050406030204" pitchFamily="18" charset="0"/>
                              </a:rPr>
                            </m:ctrlPr>
                          </m:dPr>
                          <m:e>
                            <m:r>
                              <a:rPr lang="ar-AE" i="1">
                                <a:latin typeface="Cambria Math" panose="02040503050406030204" pitchFamily="18" charset="0"/>
                              </a:rPr>
                              <m:t>𝑄</m:t>
                            </m:r>
                          </m:e>
                          <m:e>
                            <m:r>
                              <a:rPr lang="ar-AE" i="1">
                                <a:latin typeface="Cambria Math" panose="02040503050406030204" pitchFamily="18" charset="0"/>
                              </a:rPr>
                              <m:t>𝐶</m:t>
                            </m:r>
                          </m:e>
                        </m:d>
                      </m:e>
                    </m:d>
                  </m:oMath>
                </a14:m>
                <a:endParaRPr lang="en-IN"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8. Hallucination Control Logic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similarity &lt; threshold → return</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“Information Not Found”</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Ensures </a:t>
                </a:r>
                <a:r>
                  <a:rPr lang="en-US" b="1" dirty="0">
                    <a:latin typeface="Times New Roman" panose="02020603050405020304" pitchFamily="18" charset="0"/>
                    <a:cs typeface="Times New Roman" panose="02020603050405020304" pitchFamily="18" charset="0"/>
                  </a:rPr>
                  <a:t>100% factual grounding</a:t>
                </a: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ar-AE"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mc:Choice>
        <mc:Fallback xmlns="">
          <p:sp>
            <p:nvSpPr>
              <p:cNvPr id="9" name="Content Placeholder 8">
                <a:extLst>
                  <a:ext uri="{FF2B5EF4-FFF2-40B4-BE49-F238E27FC236}">
                    <a16:creationId xmlns:a16="http://schemas.microsoft.com/office/drawing/2014/main" id="{1EB492AD-2B04-2A5B-5E7F-E9A2B26940E8}"/>
                  </a:ext>
                </a:extLst>
              </p:cNvPr>
              <p:cNvSpPr>
                <a:spLocks noGrp="1" noRot="1" noChangeAspect="1" noMove="1" noResize="1" noEditPoints="1" noAdjustHandles="1" noChangeArrowheads="1" noChangeShapeType="1" noTextEdit="1"/>
              </p:cNvSpPr>
              <p:nvPr>
                <p:ph idx="1"/>
              </p:nvPr>
            </p:nvSpPr>
            <p:spPr>
              <a:xfrm>
                <a:off x="521726" y="1466030"/>
                <a:ext cx="5922196" cy="4351338"/>
              </a:xfrm>
              <a:blipFill>
                <a:blip r:embed="rId3"/>
                <a:stretch>
                  <a:fillRect l="-927" t="-2381" b="-420"/>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E55C0FAC-2A8D-DC1A-0D63-E1E5F064EAB2}"/>
              </a:ext>
            </a:extLst>
          </p:cNvPr>
          <p:cNvPicPr>
            <a:picLocks noChangeAspect="1"/>
          </p:cNvPicPr>
          <p:nvPr/>
        </p:nvPicPr>
        <p:blipFill>
          <a:blip r:embed="rId4">
            <a:extLst>
              <a:ext uri="{28A0092B-C50C-407E-A947-70E740481C1C}">
                <a14:useLocalDpi xmlns:a14="http://schemas.microsoft.com/office/drawing/2010/main" val="0"/>
              </a:ext>
            </a:extLst>
          </a:blip>
          <a:srcRect l="8284" t="3027"/>
          <a:stretch>
            <a:fillRect/>
          </a:stretch>
        </p:blipFill>
        <p:spPr>
          <a:xfrm>
            <a:off x="5486400" y="1824749"/>
            <a:ext cx="6705600" cy="3799898"/>
          </a:xfrm>
          <a:prstGeom prst="rect">
            <a:avLst/>
          </a:prstGeom>
        </p:spPr>
      </p:pic>
      <p:sp>
        <p:nvSpPr>
          <p:cNvPr id="11" name="Content Placeholder 2">
            <a:extLst>
              <a:ext uri="{FF2B5EF4-FFF2-40B4-BE49-F238E27FC236}">
                <a16:creationId xmlns:a16="http://schemas.microsoft.com/office/drawing/2014/main" id="{312E2AE8-9784-AFDD-BF89-DA208791ACE5}"/>
              </a:ext>
            </a:extLst>
          </p:cNvPr>
          <p:cNvSpPr txBox="1">
            <a:spLocks/>
          </p:cNvSpPr>
          <p:nvPr/>
        </p:nvSpPr>
        <p:spPr>
          <a:xfrm>
            <a:off x="492230" y="1379757"/>
            <a:ext cx="11374422" cy="481556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17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37AF2E-3C9F-E786-228B-89E430BAF56B}"/>
              </a:ext>
            </a:extLst>
          </p:cNvPr>
          <p:cNvSpPr>
            <a:spLocks noGrp="1"/>
          </p:cNvSpPr>
          <p:nvPr>
            <p:ph type="sldNum" sz="quarter" idx="12"/>
          </p:nvPr>
        </p:nvSpPr>
        <p:spPr/>
        <p:txBody>
          <a:bodyPr/>
          <a:lstStyle/>
          <a:p>
            <a:fld id="{465B6183-8A9B-4479-A92F-19E2694DB44A}" type="slidenum">
              <a:rPr lang="en-IN" smtClean="0"/>
              <a:t>23</a:t>
            </a:fld>
            <a:endParaRPr lang="en-IN"/>
          </a:p>
        </p:txBody>
      </p:sp>
      <p:pic>
        <p:nvPicPr>
          <p:cNvPr id="3" name="Picture 2">
            <a:extLst>
              <a:ext uri="{FF2B5EF4-FFF2-40B4-BE49-F238E27FC236}">
                <a16:creationId xmlns:a16="http://schemas.microsoft.com/office/drawing/2014/main" id="{2A8FDFEE-E442-0934-F111-51D1241771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5" name="TextBox 4">
            <a:extLst>
              <a:ext uri="{FF2B5EF4-FFF2-40B4-BE49-F238E27FC236}">
                <a16:creationId xmlns:a16="http://schemas.microsoft.com/office/drawing/2014/main" id="{5A34AF8B-B57B-EF62-268F-5ABD65882D2B}"/>
              </a:ext>
            </a:extLst>
          </p:cNvPr>
          <p:cNvSpPr txBox="1"/>
          <p:nvPr/>
        </p:nvSpPr>
        <p:spPr>
          <a:xfrm>
            <a:off x="3115732" y="136525"/>
            <a:ext cx="7577667" cy="369332"/>
          </a:xfrm>
          <a:prstGeom prst="rect">
            <a:avLst/>
          </a:prstGeom>
          <a:noFill/>
        </p:spPr>
        <p:txBody>
          <a:bodyPr wrap="square">
            <a:spAutoFit/>
          </a:bodyPr>
          <a:lstStyle/>
          <a:p>
            <a:r>
              <a:rPr lang="en-US" sz="1800" b="1" dirty="0">
                <a:solidFill>
                  <a:srgbClr val="002060"/>
                </a:solidFill>
                <a:latin typeface="Garamond" panose="02020404030301010803" pitchFamily="18" charset="0"/>
              </a:rPr>
              <a:t>Title: </a:t>
            </a:r>
            <a:r>
              <a:rPr lang="en-US" sz="18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8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18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CA22DBC-8E47-21DF-B486-897CBE0BE923}"/>
              </a:ext>
            </a:extLst>
          </p:cNvPr>
          <p:cNvSpPr txBox="1"/>
          <p:nvPr/>
        </p:nvSpPr>
        <p:spPr>
          <a:xfrm>
            <a:off x="372533" y="899068"/>
            <a:ext cx="6096000" cy="369332"/>
          </a:xfrm>
          <a:prstGeom prst="rect">
            <a:avLst/>
          </a:prstGeom>
          <a:noFill/>
        </p:spPr>
        <p:txBody>
          <a:bodyPr wrap="square">
            <a:spAutoFit/>
          </a:bodyPr>
          <a:lstStyle/>
          <a:p>
            <a:r>
              <a:rPr lang="en-US" sz="1800" dirty="0">
                <a:solidFill>
                  <a:schemeClr val="accent1">
                    <a:lumMod val="50000"/>
                  </a:schemeClr>
                </a:solidFill>
                <a:latin typeface="Times New Roman" panose="02020603050405020304" pitchFamily="18" charset="0"/>
                <a:cs typeface="Times New Roman" panose="02020603050405020304" pitchFamily="18" charset="0"/>
              </a:rPr>
              <a:t>U</a:t>
            </a:r>
            <a:r>
              <a:rPr lang="en-IN" sz="1800" dirty="0">
                <a:solidFill>
                  <a:schemeClr val="accent1">
                    <a:lumMod val="50000"/>
                  </a:schemeClr>
                </a:solidFill>
                <a:latin typeface="Times New Roman" panose="02020603050405020304" pitchFamily="18" charset="0"/>
                <a:cs typeface="Times New Roman" panose="02020603050405020304" pitchFamily="18" charset="0"/>
              </a:rPr>
              <a:t>ML DIAGRAM: State chart </a:t>
            </a:r>
          </a:p>
        </p:txBody>
      </p:sp>
      <p:pic>
        <p:nvPicPr>
          <p:cNvPr id="9" name="Picture 8">
            <a:extLst>
              <a:ext uri="{FF2B5EF4-FFF2-40B4-BE49-F238E27FC236}">
                <a16:creationId xmlns:a16="http://schemas.microsoft.com/office/drawing/2014/main" id="{4992EFB2-179D-DD4E-0BFB-FBB287AD1E6B}"/>
              </a:ext>
            </a:extLst>
          </p:cNvPr>
          <p:cNvPicPr>
            <a:picLocks noChangeAspect="1"/>
          </p:cNvPicPr>
          <p:nvPr/>
        </p:nvPicPr>
        <p:blipFill>
          <a:blip r:embed="rId3"/>
          <a:stretch>
            <a:fillRect/>
          </a:stretch>
        </p:blipFill>
        <p:spPr>
          <a:xfrm>
            <a:off x="2123440" y="1383733"/>
            <a:ext cx="2400635" cy="4782217"/>
          </a:xfrm>
          <a:prstGeom prst="rect">
            <a:avLst/>
          </a:prstGeom>
        </p:spPr>
      </p:pic>
      <p:pic>
        <p:nvPicPr>
          <p:cNvPr id="11" name="Picture 10">
            <a:extLst>
              <a:ext uri="{FF2B5EF4-FFF2-40B4-BE49-F238E27FC236}">
                <a16:creationId xmlns:a16="http://schemas.microsoft.com/office/drawing/2014/main" id="{CAFC9262-377A-31F3-843B-62370B3B6755}"/>
              </a:ext>
            </a:extLst>
          </p:cNvPr>
          <p:cNvPicPr>
            <a:picLocks noChangeAspect="1"/>
          </p:cNvPicPr>
          <p:nvPr/>
        </p:nvPicPr>
        <p:blipFill>
          <a:blip r:embed="rId4"/>
          <a:stretch>
            <a:fillRect/>
          </a:stretch>
        </p:blipFill>
        <p:spPr>
          <a:xfrm>
            <a:off x="5917442" y="1620212"/>
            <a:ext cx="3286584" cy="4372585"/>
          </a:xfrm>
          <a:prstGeom prst="rect">
            <a:avLst/>
          </a:prstGeom>
        </p:spPr>
      </p:pic>
    </p:spTree>
    <p:extLst>
      <p:ext uri="{BB962C8B-B14F-4D97-AF65-F5344CB8AC3E}">
        <p14:creationId xmlns:p14="http://schemas.microsoft.com/office/powerpoint/2010/main" val="3899437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AD7D97-4180-E9F3-8F00-9B0E148F5E68}"/>
              </a:ext>
            </a:extLst>
          </p:cNvPr>
          <p:cNvSpPr>
            <a:spLocks noGrp="1"/>
          </p:cNvSpPr>
          <p:nvPr>
            <p:ph type="sldNum" sz="quarter" idx="12"/>
          </p:nvPr>
        </p:nvSpPr>
        <p:spPr/>
        <p:txBody>
          <a:bodyPr/>
          <a:lstStyle/>
          <a:p>
            <a:fld id="{465B6183-8A9B-4479-A92F-19E2694DB44A}" type="slidenum">
              <a:rPr lang="en-IN" smtClean="0"/>
              <a:t>24</a:t>
            </a:fld>
            <a:endParaRPr lang="en-IN"/>
          </a:p>
        </p:txBody>
      </p:sp>
      <p:pic>
        <p:nvPicPr>
          <p:cNvPr id="3" name="Picture 2">
            <a:extLst>
              <a:ext uri="{FF2B5EF4-FFF2-40B4-BE49-F238E27FC236}">
                <a16:creationId xmlns:a16="http://schemas.microsoft.com/office/drawing/2014/main" id="{7A6E2D25-E2D0-81BD-7CB6-18BC74B17B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6" name="TextBox 5">
            <a:extLst>
              <a:ext uri="{FF2B5EF4-FFF2-40B4-BE49-F238E27FC236}">
                <a16:creationId xmlns:a16="http://schemas.microsoft.com/office/drawing/2014/main" id="{C4460FDA-81F5-0061-A142-40712BFBDE07}"/>
              </a:ext>
            </a:extLst>
          </p:cNvPr>
          <p:cNvSpPr txBox="1"/>
          <p:nvPr/>
        </p:nvSpPr>
        <p:spPr>
          <a:xfrm>
            <a:off x="2802466" y="136525"/>
            <a:ext cx="7120467" cy="400110"/>
          </a:xfrm>
          <a:prstGeom prst="rect">
            <a:avLst/>
          </a:prstGeom>
          <a:noFill/>
        </p:spPr>
        <p:txBody>
          <a:bodyPr wrap="square">
            <a:spAutoFit/>
          </a:bodyPr>
          <a:lstStyle/>
          <a:p>
            <a:r>
              <a:rPr lang="en-US" sz="2000" b="1" dirty="0">
                <a:solidFill>
                  <a:srgbClr val="002060"/>
                </a:solidFill>
                <a:latin typeface="Garamond" panose="02020404030301010803" pitchFamily="18" charset="0"/>
              </a:rPr>
              <a:t>Title: </a:t>
            </a:r>
            <a:r>
              <a:rPr lang="en-US"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descr="IMG_256">
            <a:extLst>
              <a:ext uri="{FF2B5EF4-FFF2-40B4-BE49-F238E27FC236}">
                <a16:creationId xmlns:a16="http://schemas.microsoft.com/office/drawing/2014/main" id="{817A1519-2C3E-B512-BAA5-BD635155CAB9}"/>
              </a:ext>
            </a:extLst>
          </p:cNvPr>
          <p:cNvPicPr>
            <a:picLocks noChangeAspect="1"/>
          </p:cNvPicPr>
          <p:nvPr/>
        </p:nvPicPr>
        <p:blipFill>
          <a:blip r:embed="rId3"/>
          <a:stretch>
            <a:fillRect/>
          </a:stretch>
        </p:blipFill>
        <p:spPr>
          <a:xfrm>
            <a:off x="2123440" y="2025303"/>
            <a:ext cx="7448212" cy="3336579"/>
          </a:xfrm>
          <a:prstGeom prst="rect">
            <a:avLst/>
          </a:prstGeom>
          <a:noFill/>
          <a:ln w="9525">
            <a:noFill/>
          </a:ln>
        </p:spPr>
      </p:pic>
      <p:sp>
        <p:nvSpPr>
          <p:cNvPr id="9" name="TextBox 8">
            <a:extLst>
              <a:ext uri="{FF2B5EF4-FFF2-40B4-BE49-F238E27FC236}">
                <a16:creationId xmlns:a16="http://schemas.microsoft.com/office/drawing/2014/main" id="{8174A44C-6402-B86D-3356-026CBE2830DD}"/>
              </a:ext>
            </a:extLst>
          </p:cNvPr>
          <p:cNvSpPr txBox="1"/>
          <p:nvPr/>
        </p:nvSpPr>
        <p:spPr>
          <a:xfrm>
            <a:off x="457200" y="911637"/>
            <a:ext cx="6096000" cy="369332"/>
          </a:xfrm>
          <a:prstGeom prst="rect">
            <a:avLst/>
          </a:prstGeom>
          <a:noFill/>
        </p:spPr>
        <p:txBody>
          <a:bodyPr wrap="square">
            <a:spAutoFit/>
          </a:bodyPr>
          <a:lstStyle/>
          <a:p>
            <a:r>
              <a:rPr lang="en-US" sz="1800" dirty="0">
                <a:solidFill>
                  <a:schemeClr val="accent1">
                    <a:lumMod val="50000"/>
                  </a:schemeClr>
                </a:solidFill>
                <a:latin typeface="Times New Roman" panose="02020603050405020304" pitchFamily="18" charset="0"/>
                <a:cs typeface="Times New Roman" panose="02020603050405020304" pitchFamily="18" charset="0"/>
              </a:rPr>
              <a:t>U</a:t>
            </a:r>
            <a:r>
              <a:rPr lang="en-IN" sz="1800" dirty="0">
                <a:solidFill>
                  <a:schemeClr val="accent1">
                    <a:lumMod val="50000"/>
                  </a:schemeClr>
                </a:solidFill>
                <a:latin typeface="Times New Roman" panose="02020603050405020304" pitchFamily="18" charset="0"/>
                <a:cs typeface="Times New Roman" panose="02020603050405020304" pitchFamily="18" charset="0"/>
              </a:rPr>
              <a:t>ML DIAGRAM: Sequence Diagram </a:t>
            </a:r>
          </a:p>
        </p:txBody>
      </p:sp>
    </p:spTree>
    <p:extLst>
      <p:ext uri="{BB962C8B-B14F-4D97-AF65-F5344CB8AC3E}">
        <p14:creationId xmlns:p14="http://schemas.microsoft.com/office/powerpoint/2010/main" val="4162147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45856-948C-07C4-C095-51BBD92EBED5}"/>
              </a:ext>
            </a:extLst>
          </p:cNvPr>
          <p:cNvSpPr>
            <a:spLocks noGrp="1"/>
          </p:cNvSpPr>
          <p:nvPr>
            <p:ph type="sldNum" sz="quarter" idx="12"/>
          </p:nvPr>
        </p:nvSpPr>
        <p:spPr/>
        <p:txBody>
          <a:bodyPr/>
          <a:lstStyle/>
          <a:p>
            <a:fld id="{465B6183-8A9B-4479-A92F-19E2694DB44A}" type="slidenum">
              <a:rPr lang="en-IN" smtClean="0"/>
              <a:t>25</a:t>
            </a:fld>
            <a:endParaRPr lang="en-IN"/>
          </a:p>
        </p:txBody>
      </p:sp>
      <p:pic>
        <p:nvPicPr>
          <p:cNvPr id="3" name="Picture 2">
            <a:extLst>
              <a:ext uri="{FF2B5EF4-FFF2-40B4-BE49-F238E27FC236}">
                <a16:creationId xmlns:a16="http://schemas.microsoft.com/office/drawing/2014/main" id="{9697B40B-B493-DA87-751E-72C4378C5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5" name="TextBox 4">
            <a:extLst>
              <a:ext uri="{FF2B5EF4-FFF2-40B4-BE49-F238E27FC236}">
                <a16:creationId xmlns:a16="http://schemas.microsoft.com/office/drawing/2014/main" id="{10F55F58-1CDD-4172-C854-E15F7A07F99D}"/>
              </a:ext>
            </a:extLst>
          </p:cNvPr>
          <p:cNvSpPr txBox="1"/>
          <p:nvPr/>
        </p:nvSpPr>
        <p:spPr>
          <a:xfrm>
            <a:off x="2743199" y="136525"/>
            <a:ext cx="8746067" cy="369332"/>
          </a:xfrm>
          <a:prstGeom prst="rect">
            <a:avLst/>
          </a:prstGeom>
          <a:noFill/>
        </p:spPr>
        <p:txBody>
          <a:bodyPr wrap="square">
            <a:spAutoFit/>
          </a:bodyPr>
          <a:lstStyle/>
          <a:p>
            <a:r>
              <a:rPr lang="en-US" sz="1800" b="1" dirty="0">
                <a:solidFill>
                  <a:srgbClr val="002060"/>
                </a:solidFill>
                <a:latin typeface="Garamond" panose="02020404030301010803" pitchFamily="18" charset="0"/>
              </a:rPr>
              <a:t>Title: </a:t>
            </a:r>
            <a:r>
              <a:rPr lang="en-US" sz="18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8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18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descr="IMG_256">
            <a:extLst>
              <a:ext uri="{FF2B5EF4-FFF2-40B4-BE49-F238E27FC236}">
                <a16:creationId xmlns:a16="http://schemas.microsoft.com/office/drawing/2014/main" id="{6972FC02-EDA8-1163-5377-A6F5903C9919}"/>
              </a:ext>
            </a:extLst>
          </p:cNvPr>
          <p:cNvPicPr>
            <a:picLocks noChangeAspect="1"/>
          </p:cNvPicPr>
          <p:nvPr/>
        </p:nvPicPr>
        <p:blipFill>
          <a:blip r:embed="rId3"/>
          <a:stretch>
            <a:fillRect/>
          </a:stretch>
        </p:blipFill>
        <p:spPr>
          <a:xfrm>
            <a:off x="2018456" y="2315654"/>
            <a:ext cx="7709744" cy="1393327"/>
          </a:xfrm>
          <a:prstGeom prst="rect">
            <a:avLst/>
          </a:prstGeom>
          <a:noFill/>
          <a:ln w="9525">
            <a:noFill/>
          </a:ln>
        </p:spPr>
      </p:pic>
      <p:sp>
        <p:nvSpPr>
          <p:cNvPr id="9" name="TextBox 8">
            <a:extLst>
              <a:ext uri="{FF2B5EF4-FFF2-40B4-BE49-F238E27FC236}">
                <a16:creationId xmlns:a16="http://schemas.microsoft.com/office/drawing/2014/main" id="{54D64EFF-6A3B-C8AD-C4D3-6781C017FF5F}"/>
              </a:ext>
            </a:extLst>
          </p:cNvPr>
          <p:cNvSpPr txBox="1"/>
          <p:nvPr/>
        </p:nvSpPr>
        <p:spPr>
          <a:xfrm>
            <a:off x="270933" y="929777"/>
            <a:ext cx="6096000" cy="369332"/>
          </a:xfrm>
          <a:prstGeom prst="rect">
            <a:avLst/>
          </a:prstGeom>
          <a:noFill/>
        </p:spPr>
        <p:txBody>
          <a:bodyPr wrap="square">
            <a:spAutoFit/>
          </a:bodyPr>
          <a:lstStyle/>
          <a:p>
            <a:r>
              <a:rPr lang="en-US" sz="1800" dirty="0">
                <a:solidFill>
                  <a:schemeClr val="accent1">
                    <a:lumMod val="50000"/>
                  </a:schemeClr>
                </a:solidFill>
                <a:latin typeface="Times New Roman" panose="02020603050405020304" pitchFamily="18" charset="0"/>
                <a:cs typeface="Times New Roman" panose="02020603050405020304" pitchFamily="18" charset="0"/>
              </a:rPr>
              <a:t>U</a:t>
            </a:r>
            <a:r>
              <a:rPr lang="en-IN" sz="1800" dirty="0">
                <a:solidFill>
                  <a:schemeClr val="accent1">
                    <a:lumMod val="50000"/>
                  </a:schemeClr>
                </a:solidFill>
                <a:latin typeface="Times New Roman" panose="02020603050405020304" pitchFamily="18" charset="0"/>
                <a:cs typeface="Times New Roman" panose="02020603050405020304" pitchFamily="18" charset="0"/>
              </a:rPr>
              <a:t>ML DIAGRAM: </a:t>
            </a:r>
            <a:r>
              <a:rPr lang="en-IN" dirty="0">
                <a:solidFill>
                  <a:schemeClr val="accent1">
                    <a:lumMod val="50000"/>
                  </a:schemeClr>
                </a:solidFill>
                <a:latin typeface="Times New Roman" panose="02020603050405020304" pitchFamily="18" charset="0"/>
                <a:cs typeface="Times New Roman" panose="02020603050405020304" pitchFamily="18" charset="0"/>
              </a:rPr>
              <a:t>Use Case Diagram</a:t>
            </a:r>
            <a:r>
              <a:rPr lang="en-IN" sz="1800" dirty="0">
                <a:solidFill>
                  <a:schemeClr val="accent1">
                    <a:lumMod val="50000"/>
                  </a:schemeClr>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37536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AA382D-0FA7-1B92-799F-FF0EF9F5E2F7}"/>
              </a:ext>
            </a:extLst>
          </p:cNvPr>
          <p:cNvSpPr>
            <a:spLocks noGrp="1"/>
          </p:cNvSpPr>
          <p:nvPr>
            <p:ph type="sldNum" sz="quarter" idx="12"/>
          </p:nvPr>
        </p:nvSpPr>
        <p:spPr/>
        <p:txBody>
          <a:bodyPr/>
          <a:lstStyle/>
          <a:p>
            <a:fld id="{465B6183-8A9B-4479-A92F-19E2694DB44A}" type="slidenum">
              <a:rPr lang="en-IN" smtClean="0"/>
              <a:t>26</a:t>
            </a:fld>
            <a:endParaRPr lang="en-IN"/>
          </a:p>
        </p:txBody>
      </p:sp>
      <p:pic>
        <p:nvPicPr>
          <p:cNvPr id="3" name="Picture 2">
            <a:extLst>
              <a:ext uri="{FF2B5EF4-FFF2-40B4-BE49-F238E27FC236}">
                <a16:creationId xmlns:a16="http://schemas.microsoft.com/office/drawing/2014/main" id="{C527B249-1BCE-081E-6D33-D495E6C89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5" name="TextBox 4">
            <a:extLst>
              <a:ext uri="{FF2B5EF4-FFF2-40B4-BE49-F238E27FC236}">
                <a16:creationId xmlns:a16="http://schemas.microsoft.com/office/drawing/2014/main" id="{54CAABCA-829D-3CEA-32ED-57E12189B1ED}"/>
              </a:ext>
            </a:extLst>
          </p:cNvPr>
          <p:cNvSpPr txBox="1"/>
          <p:nvPr/>
        </p:nvSpPr>
        <p:spPr>
          <a:xfrm>
            <a:off x="2929466" y="247913"/>
            <a:ext cx="7586133" cy="369332"/>
          </a:xfrm>
          <a:prstGeom prst="rect">
            <a:avLst/>
          </a:prstGeom>
          <a:noFill/>
        </p:spPr>
        <p:txBody>
          <a:bodyPr wrap="square">
            <a:spAutoFit/>
          </a:bodyPr>
          <a:lstStyle/>
          <a:p>
            <a:r>
              <a:rPr lang="en-US" sz="1800" b="1" dirty="0">
                <a:solidFill>
                  <a:srgbClr val="002060"/>
                </a:solidFill>
                <a:latin typeface="Garamond" panose="02020404030301010803" pitchFamily="18" charset="0"/>
              </a:rPr>
              <a:t>Title: </a:t>
            </a:r>
            <a:r>
              <a:rPr lang="en-US" sz="18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8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18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60837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D2AAA6-7F6A-8BFE-1F68-7F1743D59D46}"/>
              </a:ext>
            </a:extLst>
          </p:cNvPr>
          <p:cNvSpPr>
            <a:spLocks noGrp="1"/>
          </p:cNvSpPr>
          <p:nvPr>
            <p:ph idx="1"/>
          </p:nvPr>
        </p:nvSpPr>
        <p:spPr>
          <a:xfrm>
            <a:off x="619433" y="1701326"/>
            <a:ext cx="10943302" cy="4655024"/>
          </a:xfrm>
          <a:ln>
            <a:solidFill>
              <a:schemeClr val="tx1"/>
            </a:solidFill>
          </a:ln>
        </p:spPr>
        <p:txBody>
          <a:bodyPr/>
          <a:lstStyle/>
          <a:p>
            <a:pPr marL="0" indent="0">
              <a:buNone/>
            </a:pPr>
            <a:endParaRPr lang="en-IN" dirty="0">
              <a:hlinkClick r:id="rId2"/>
            </a:endParaRPr>
          </a:p>
          <a:p>
            <a:pPr marL="0" indent="0">
              <a:buNone/>
            </a:pPr>
            <a:endParaRPr lang="en-IN" dirty="0">
              <a:hlinkClick r:id="rId2"/>
            </a:endParaRPr>
          </a:p>
          <a:p>
            <a:pPr marL="0" indent="0">
              <a:buNone/>
            </a:pPr>
            <a:r>
              <a:rPr lang="en-IN" dirty="0">
                <a:hlinkClick r:id="rId2"/>
              </a:rPr>
              <a:t>https://colab.research.google.com/drive/1L-OcaX-6hiZ-TD15r13VvPRWW8qIq4wY#scrollTo=A1hGTaS0kqPF</a:t>
            </a:r>
            <a:endParaRPr lang="en-IN" dirty="0"/>
          </a:p>
          <a:p>
            <a:pPr marL="0" indent="0">
              <a:buNone/>
            </a:pPr>
            <a:endParaRPr lang="en-IN" dirty="0"/>
          </a:p>
          <a:p>
            <a:pPr marL="0" indent="0">
              <a:buNone/>
            </a:pPr>
            <a:r>
              <a:rPr lang="en-IN" dirty="0">
                <a:hlinkClick r:id="rId3"/>
              </a:rPr>
              <a:t>https://github.com/sairamarava/edurag</a:t>
            </a:r>
            <a:endParaRPr lang="en-IN" dirty="0"/>
          </a:p>
        </p:txBody>
      </p:sp>
      <p:sp>
        <p:nvSpPr>
          <p:cNvPr id="4" name="Slide Number Placeholder 3">
            <a:extLst>
              <a:ext uri="{FF2B5EF4-FFF2-40B4-BE49-F238E27FC236}">
                <a16:creationId xmlns:a16="http://schemas.microsoft.com/office/drawing/2014/main" id="{8CD6AC90-29F6-950F-06A4-9C2C651011BF}"/>
              </a:ext>
            </a:extLst>
          </p:cNvPr>
          <p:cNvSpPr>
            <a:spLocks noGrp="1"/>
          </p:cNvSpPr>
          <p:nvPr>
            <p:ph type="sldNum" sz="quarter" idx="12"/>
          </p:nvPr>
        </p:nvSpPr>
        <p:spPr/>
        <p:txBody>
          <a:bodyPr/>
          <a:lstStyle/>
          <a:p>
            <a:fld id="{465B6183-8A9B-4479-A92F-19E2694DB44A}" type="slidenum">
              <a:rPr lang="en-IN" smtClean="0"/>
              <a:t>27</a:t>
            </a:fld>
            <a:endParaRPr lang="en-IN"/>
          </a:p>
        </p:txBody>
      </p:sp>
      <p:pic>
        <p:nvPicPr>
          <p:cNvPr id="5" name="Picture 4">
            <a:extLst>
              <a:ext uri="{FF2B5EF4-FFF2-40B4-BE49-F238E27FC236}">
                <a16:creationId xmlns:a16="http://schemas.microsoft.com/office/drawing/2014/main" id="{0CEBFD57-F934-488B-1493-2A79EBE4D3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87CE461C-CF1D-2DF5-6ECC-6B6F4D17FB64}"/>
              </a:ext>
            </a:extLst>
          </p:cNvPr>
          <p:cNvSpPr txBox="1"/>
          <p:nvPr/>
        </p:nvSpPr>
        <p:spPr>
          <a:xfrm>
            <a:off x="3195483" y="142815"/>
            <a:ext cx="885427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D9333952-CBCD-AFF3-C401-5C83D9542706}"/>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Implementation ( Source code )</a:t>
            </a:r>
          </a:p>
        </p:txBody>
      </p:sp>
    </p:spTree>
    <p:extLst>
      <p:ext uri="{BB962C8B-B14F-4D97-AF65-F5344CB8AC3E}">
        <p14:creationId xmlns:p14="http://schemas.microsoft.com/office/powerpoint/2010/main" val="594837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60950-A58F-E7B9-E766-A52A6C1CD7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39236C-BE42-5D5E-AFAC-52F9BBB41DC9}"/>
              </a:ext>
            </a:extLst>
          </p:cNvPr>
          <p:cNvSpPr>
            <a:spLocks noGrp="1"/>
          </p:cNvSpPr>
          <p:nvPr>
            <p:ph type="sldNum" sz="quarter" idx="12"/>
          </p:nvPr>
        </p:nvSpPr>
        <p:spPr/>
        <p:txBody>
          <a:bodyPr/>
          <a:lstStyle/>
          <a:p>
            <a:fld id="{465B6183-8A9B-4479-A92F-19E2694DB44A}" type="slidenum">
              <a:rPr lang="en-IN" smtClean="0"/>
              <a:t>28</a:t>
            </a:fld>
            <a:endParaRPr lang="en-IN"/>
          </a:p>
        </p:txBody>
      </p:sp>
      <p:pic>
        <p:nvPicPr>
          <p:cNvPr id="5" name="Picture 4">
            <a:extLst>
              <a:ext uri="{FF2B5EF4-FFF2-40B4-BE49-F238E27FC236}">
                <a16:creationId xmlns:a16="http://schemas.microsoft.com/office/drawing/2014/main" id="{A7E4D4A0-FAA0-3B10-209C-8F2EC8B06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23F57CFA-7002-38B2-7661-E98DBA6CB073}"/>
              </a:ext>
            </a:extLst>
          </p:cNvPr>
          <p:cNvSpPr txBox="1"/>
          <p:nvPr/>
        </p:nvSpPr>
        <p:spPr>
          <a:xfrm>
            <a:off x="3195483" y="142815"/>
            <a:ext cx="885427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C19D80A-EB24-B2B6-B1B2-8C5959A0EE8B}"/>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Conclusion</a:t>
            </a:r>
          </a:p>
        </p:txBody>
      </p:sp>
      <p:sp>
        <p:nvSpPr>
          <p:cNvPr id="2" name="Content Placeholder 1">
            <a:extLst>
              <a:ext uri="{FF2B5EF4-FFF2-40B4-BE49-F238E27FC236}">
                <a16:creationId xmlns:a16="http://schemas.microsoft.com/office/drawing/2014/main" id="{4D888ADD-0D19-F9D6-8556-3A9E8E21C0D0}"/>
              </a:ext>
            </a:extLst>
          </p:cNvPr>
          <p:cNvSpPr>
            <a:spLocks noGrp="1" noChangeArrowheads="1"/>
          </p:cNvSpPr>
          <p:nvPr>
            <p:ph idx="1"/>
          </p:nvPr>
        </p:nvSpPr>
        <p:spPr bwMode="auto">
          <a:xfrm>
            <a:off x="492230" y="2247711"/>
            <a:ext cx="1065523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presents a lightweight and efficient RAG-based system for academic question answering, ensuring accurate and context-grounded responses. </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It combines semantic retrieval with controlled generation to minimize hallucination and improve reliability.</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The system operates effectively on CPU-based environments, making it suitable for low-resource institutions.</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Its structured data approach and modular design enhance scalability and ease of deployment.</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Overall, </a:t>
            </a:r>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demonstrates that high-quality QA systems can be built with minimal computational cost.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191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7DA9-61F5-86B4-A2D6-7DC44CFB5F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21FF8D-18BA-402A-1E2D-8DBACB2BFB60}"/>
              </a:ext>
            </a:extLst>
          </p:cNvPr>
          <p:cNvSpPr>
            <a:spLocks noGrp="1"/>
          </p:cNvSpPr>
          <p:nvPr>
            <p:ph idx="1"/>
          </p:nvPr>
        </p:nvSpPr>
        <p:spPr>
          <a:xfrm>
            <a:off x="619433" y="1701326"/>
            <a:ext cx="10943302" cy="4655024"/>
          </a:xfrm>
          <a:ln>
            <a:solidFill>
              <a:schemeClr val="tx1"/>
            </a:solidFill>
          </a:ln>
        </p:spPr>
        <p:txBody>
          <a:bodyPr>
            <a:normAutofit/>
          </a:bodyPr>
          <a:lstStyle/>
          <a:p>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can be extended by integrating </a:t>
            </a:r>
            <a:r>
              <a:rPr lang="en-US" sz="1800" b="1" dirty="0">
                <a:latin typeface="Times New Roman" panose="02020603050405020304" pitchFamily="18" charset="0"/>
                <a:cs typeface="Times New Roman" panose="02020603050405020304" pitchFamily="18" charset="0"/>
              </a:rPr>
              <a:t>larger and more advanced language models</a:t>
            </a:r>
            <a:r>
              <a:rPr lang="en-US" sz="1800" dirty="0">
                <a:latin typeface="Times New Roman" panose="02020603050405020304" pitchFamily="18" charset="0"/>
                <a:cs typeface="Times New Roman" panose="02020603050405020304" pitchFamily="18" charset="0"/>
              </a:rPr>
              <a:t> to improve reasoning and answer quality. </a:t>
            </a:r>
          </a:p>
          <a:p>
            <a:r>
              <a:rPr lang="en-US" sz="1800" dirty="0">
                <a:latin typeface="Times New Roman" panose="02020603050405020304" pitchFamily="18" charset="0"/>
                <a:cs typeface="Times New Roman" panose="02020603050405020304" pitchFamily="18" charset="0"/>
              </a:rPr>
              <a:t>The system can be enhanced with </a:t>
            </a:r>
            <a:r>
              <a:rPr lang="en-US" sz="1800" b="1" dirty="0">
                <a:latin typeface="Times New Roman" panose="02020603050405020304" pitchFamily="18" charset="0"/>
                <a:cs typeface="Times New Roman" panose="02020603050405020304" pitchFamily="18" charset="0"/>
              </a:rPr>
              <a:t>real-time data updates and dynamic knowledge bases</a:t>
            </a:r>
            <a:r>
              <a:rPr lang="en-US" sz="1800" dirty="0">
                <a:latin typeface="Times New Roman" panose="02020603050405020304" pitchFamily="18" charset="0"/>
                <a:cs typeface="Times New Roman" panose="02020603050405020304" pitchFamily="18" charset="0"/>
              </a:rPr>
              <a:t> for up-to-date academic information.</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Future improvements include </a:t>
            </a:r>
            <a:r>
              <a:rPr lang="en-US" sz="1800" b="1" dirty="0">
                <a:latin typeface="Times New Roman" panose="02020603050405020304" pitchFamily="18" charset="0"/>
                <a:cs typeface="Times New Roman" panose="02020603050405020304" pitchFamily="18" charset="0"/>
              </a:rPr>
              <a:t>multi-modal support</a:t>
            </a:r>
            <a:r>
              <a:rPr lang="en-US" sz="1800" dirty="0">
                <a:latin typeface="Times New Roman" panose="02020603050405020304" pitchFamily="18" charset="0"/>
                <a:cs typeface="Times New Roman" panose="02020603050405020304" pitchFamily="18" charset="0"/>
              </a:rPr>
              <a:t> (text, PDFs, images) and </a:t>
            </a:r>
            <a:r>
              <a:rPr lang="en-US" sz="1800" b="1" dirty="0">
                <a:latin typeface="Times New Roman" panose="02020603050405020304" pitchFamily="18" charset="0"/>
                <a:cs typeface="Times New Roman" panose="02020603050405020304" pitchFamily="18" charset="0"/>
              </a:rPr>
              <a:t>voice-based interaction</a:t>
            </a:r>
            <a:r>
              <a:rPr lang="en-US" sz="1800" dirty="0">
                <a:latin typeface="Times New Roman" panose="02020603050405020304" pitchFamily="18" charset="0"/>
                <a:cs typeface="Times New Roman" panose="02020603050405020304" pitchFamily="18" charset="0"/>
              </a:rPr>
              <a:t> for better accessibility.</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Scalability can be increased by deploying the system on </a:t>
            </a:r>
            <a:r>
              <a:rPr lang="en-US" sz="1800" b="1" dirty="0">
                <a:latin typeface="Times New Roman" panose="02020603050405020304" pitchFamily="18" charset="0"/>
                <a:cs typeface="Times New Roman" panose="02020603050405020304" pitchFamily="18" charset="0"/>
              </a:rPr>
              <a:t>cloud platforms with optimized indexing techniques</a:t>
            </a:r>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Additionally, incorporating </a:t>
            </a:r>
            <a:r>
              <a:rPr lang="en-US" sz="1800" b="1" dirty="0">
                <a:latin typeface="Times New Roman" panose="02020603050405020304" pitchFamily="18" charset="0"/>
                <a:cs typeface="Times New Roman" panose="02020603050405020304" pitchFamily="18" charset="0"/>
              </a:rPr>
              <a:t>personalized learning assistance and analytics</a:t>
            </a:r>
            <a:r>
              <a:rPr lang="en-US" sz="1800" dirty="0">
                <a:latin typeface="Times New Roman" panose="02020603050405020304" pitchFamily="18" charset="0"/>
                <a:cs typeface="Times New Roman" panose="02020603050405020304" pitchFamily="18" charset="0"/>
              </a:rPr>
              <a:t> can transform </a:t>
            </a:r>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into a full-fledged intelligent academic assistant.</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BF30379-587B-0FF3-764C-BA385D574E42}"/>
              </a:ext>
            </a:extLst>
          </p:cNvPr>
          <p:cNvSpPr>
            <a:spLocks noGrp="1"/>
          </p:cNvSpPr>
          <p:nvPr>
            <p:ph type="sldNum" sz="quarter" idx="12"/>
          </p:nvPr>
        </p:nvSpPr>
        <p:spPr/>
        <p:txBody>
          <a:bodyPr/>
          <a:lstStyle/>
          <a:p>
            <a:fld id="{465B6183-8A9B-4479-A92F-19E2694DB44A}" type="slidenum">
              <a:rPr lang="en-IN" smtClean="0"/>
              <a:t>29</a:t>
            </a:fld>
            <a:endParaRPr lang="en-IN"/>
          </a:p>
        </p:txBody>
      </p:sp>
      <p:pic>
        <p:nvPicPr>
          <p:cNvPr id="5" name="Picture 4">
            <a:extLst>
              <a:ext uri="{FF2B5EF4-FFF2-40B4-BE49-F238E27FC236}">
                <a16:creationId xmlns:a16="http://schemas.microsoft.com/office/drawing/2014/main" id="{F201216A-635D-3615-DFB2-3B29013A1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C520DF39-AA36-C13F-F4BF-B99A0ED705A3}"/>
              </a:ext>
            </a:extLst>
          </p:cNvPr>
          <p:cNvSpPr txBox="1"/>
          <p:nvPr/>
        </p:nvSpPr>
        <p:spPr>
          <a:xfrm>
            <a:off x="3195483" y="142815"/>
            <a:ext cx="885427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1E223038-D560-23ED-9FDB-12F9BF2CAFB4}"/>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Future Scope</a:t>
            </a:r>
          </a:p>
        </p:txBody>
      </p:sp>
    </p:spTree>
    <p:extLst>
      <p:ext uri="{BB962C8B-B14F-4D97-AF65-F5344CB8AC3E}">
        <p14:creationId xmlns:p14="http://schemas.microsoft.com/office/powerpoint/2010/main" val="947301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A85C67-B130-C445-3E88-6246E1479038}"/>
              </a:ext>
            </a:extLst>
          </p:cNvPr>
          <p:cNvSpPr>
            <a:spLocks noGrp="1"/>
          </p:cNvSpPr>
          <p:nvPr>
            <p:ph idx="1"/>
          </p:nvPr>
        </p:nvSpPr>
        <p:spPr>
          <a:xfrm>
            <a:off x="412956" y="1149923"/>
            <a:ext cx="11276982" cy="5457354"/>
          </a:xfrm>
        </p:spPr>
        <p:txBody>
          <a:bodyPr>
            <a:normAutofit fontScale="92500"/>
          </a:bodyPr>
          <a:lstStyle/>
          <a:p>
            <a:pPr>
              <a:buFont typeface="+mj-lt"/>
              <a:buAutoNum type="arabicPeriod"/>
            </a:pPr>
            <a:r>
              <a:rPr lang="en-IN" sz="1200" dirty="0">
                <a:latin typeface="Times New Roman" panose="02020603050405020304" pitchFamily="18" charset="0"/>
                <a:cs typeface="Times New Roman" panose="02020603050405020304" pitchFamily="18" charset="0"/>
              </a:rPr>
              <a:t>Li, </a:t>
            </a:r>
            <a:r>
              <a:rPr lang="en-IN" sz="1200" dirty="0" err="1">
                <a:latin typeface="Times New Roman" panose="02020603050405020304" pitchFamily="18" charset="0"/>
                <a:cs typeface="Times New Roman" panose="02020603050405020304" pitchFamily="18" charset="0"/>
              </a:rPr>
              <a:t>Zongxi</a:t>
            </a:r>
            <a:r>
              <a:rPr lang="en-IN" sz="1200" dirty="0">
                <a:latin typeface="Times New Roman" panose="02020603050405020304" pitchFamily="18" charset="0"/>
                <a:cs typeface="Times New Roman" panose="02020603050405020304" pitchFamily="18" charset="0"/>
              </a:rPr>
              <a:t>, Zijian Wang, Weiming Wang, Kevin Hung, Haoran Xie, and Fu Lee Wang. "Retrieval-augmented generation for educational application: A systematic survey." </a:t>
            </a:r>
            <a:r>
              <a:rPr lang="en-IN" sz="1200" i="1" dirty="0">
                <a:latin typeface="Times New Roman" panose="02020603050405020304" pitchFamily="18" charset="0"/>
                <a:cs typeface="Times New Roman" panose="02020603050405020304" pitchFamily="18" charset="0"/>
              </a:rPr>
              <a:t>Computers and Education: Artificial Intelligence</a:t>
            </a:r>
            <a:r>
              <a:rPr lang="en-IN" sz="1200" dirty="0">
                <a:latin typeface="Times New Roman" panose="02020603050405020304" pitchFamily="18" charset="0"/>
                <a:cs typeface="Times New Roman" panose="02020603050405020304" pitchFamily="18" charset="0"/>
              </a:rPr>
              <a:t> 8 (2025): 100417.</a:t>
            </a:r>
          </a:p>
          <a:p>
            <a:pPr>
              <a:buFont typeface="+mj-lt"/>
              <a:buAutoNum type="arabicPeriod"/>
            </a:pPr>
            <a:r>
              <a:rPr lang="en-IN" sz="1200" dirty="0">
                <a:latin typeface="Times New Roman" panose="02020603050405020304" pitchFamily="18" charset="0"/>
                <a:cs typeface="Times New Roman" panose="02020603050405020304" pitchFamily="18" charset="0"/>
              </a:rPr>
              <a:t>Guo, Zirui, </a:t>
            </a:r>
            <a:r>
              <a:rPr lang="en-IN" sz="1200" dirty="0" err="1">
                <a:latin typeface="Times New Roman" panose="02020603050405020304" pitchFamily="18" charset="0"/>
                <a:cs typeface="Times New Roman" panose="02020603050405020304" pitchFamily="18" charset="0"/>
              </a:rPr>
              <a:t>Lianghao</a:t>
            </a:r>
            <a:r>
              <a:rPr lang="en-IN" sz="1200" dirty="0">
                <a:latin typeface="Times New Roman" panose="02020603050405020304" pitchFamily="18" charset="0"/>
                <a:cs typeface="Times New Roman" panose="02020603050405020304" pitchFamily="18" charset="0"/>
              </a:rPr>
              <a:t> Xia, Yanhua Yu, Tian Ao, and Chao Huang. "</a:t>
            </a:r>
            <a:r>
              <a:rPr lang="en-IN" sz="1200" dirty="0" err="1">
                <a:latin typeface="Times New Roman" panose="02020603050405020304" pitchFamily="18" charset="0"/>
                <a:cs typeface="Times New Roman" panose="02020603050405020304" pitchFamily="18" charset="0"/>
              </a:rPr>
              <a:t>Lightrag</a:t>
            </a:r>
            <a:r>
              <a:rPr lang="en-IN" sz="1200" dirty="0">
                <a:latin typeface="Times New Roman" panose="02020603050405020304" pitchFamily="18" charset="0"/>
                <a:cs typeface="Times New Roman" panose="02020603050405020304" pitchFamily="18" charset="0"/>
              </a:rPr>
              <a:t>: Simple and fast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arXiv:2410.05779</a:t>
            </a:r>
            <a:r>
              <a:rPr lang="en-IN" sz="1200" dirty="0">
                <a:latin typeface="Times New Roman" panose="02020603050405020304" pitchFamily="18" charset="0"/>
                <a:cs typeface="Times New Roman" panose="02020603050405020304" pitchFamily="18" charset="0"/>
              </a:rPr>
              <a:t> 2, no. 3 (2024).</a:t>
            </a:r>
          </a:p>
          <a:p>
            <a:pPr>
              <a:buFont typeface="+mj-lt"/>
              <a:buAutoNum type="arabicPeriod"/>
            </a:pPr>
            <a:r>
              <a:rPr lang="en-IN" sz="1200" dirty="0">
                <a:latin typeface="Times New Roman" panose="02020603050405020304" pitchFamily="18" charset="0"/>
                <a:cs typeface="Times New Roman" panose="02020603050405020304" pitchFamily="18" charset="0"/>
              </a:rPr>
              <a:t>Sidorov, Denis. "Lightweight Retrieval-Augmented Generation System for Technical Support in Domain-Specific ERP Platforms." </a:t>
            </a:r>
            <a:r>
              <a:rPr lang="en-IN" sz="1200" i="1" dirty="0">
                <a:latin typeface="Times New Roman" panose="02020603050405020304" pitchFamily="18" charset="0"/>
                <a:cs typeface="Times New Roman" panose="02020603050405020304" pitchFamily="18" charset="0"/>
              </a:rPr>
              <a:t>Available at SSRN 5332731</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Fan, Tianyu, Jingyuan Wang, </a:t>
            </a:r>
            <a:r>
              <a:rPr lang="en-IN" sz="1200" dirty="0" err="1">
                <a:latin typeface="Times New Roman" panose="02020603050405020304" pitchFamily="18" charset="0"/>
                <a:cs typeface="Times New Roman" panose="02020603050405020304" pitchFamily="18" charset="0"/>
              </a:rPr>
              <a:t>Xubin</a:t>
            </a:r>
            <a:r>
              <a:rPr lang="en-IN" sz="1200" dirty="0">
                <a:latin typeface="Times New Roman" panose="02020603050405020304" pitchFamily="18" charset="0"/>
                <a:cs typeface="Times New Roman" panose="02020603050405020304" pitchFamily="18" charset="0"/>
              </a:rPr>
              <a:t> Ren, and Chao Huang. "</a:t>
            </a:r>
            <a:r>
              <a:rPr lang="en-IN" sz="1200" dirty="0" err="1">
                <a:latin typeface="Times New Roman" panose="02020603050405020304" pitchFamily="18" charset="0"/>
                <a:cs typeface="Times New Roman" panose="02020603050405020304" pitchFamily="18" charset="0"/>
              </a:rPr>
              <a:t>Minirag</a:t>
            </a:r>
            <a:r>
              <a:rPr lang="en-IN" sz="1200" dirty="0">
                <a:latin typeface="Times New Roman" panose="02020603050405020304" pitchFamily="18" charset="0"/>
                <a:cs typeface="Times New Roman" panose="02020603050405020304" pitchFamily="18" charset="0"/>
              </a:rPr>
              <a:t>: Towards extremely simple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arXiv:2501.06713</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Ji, Xu, Luo Xu, Landi Gu, Junjie Ma, </a:t>
            </a:r>
            <a:r>
              <a:rPr lang="en-IN" sz="1200" dirty="0" err="1">
                <a:latin typeface="Times New Roman" panose="02020603050405020304" pitchFamily="18" charset="0"/>
                <a:cs typeface="Times New Roman" panose="02020603050405020304" pitchFamily="18" charset="0"/>
              </a:rPr>
              <a:t>Zichao</a:t>
            </a:r>
            <a:r>
              <a:rPr lang="en-IN" sz="1200" dirty="0">
                <a:latin typeface="Times New Roman" panose="02020603050405020304" pitchFamily="18" charset="0"/>
                <a:cs typeface="Times New Roman" panose="02020603050405020304" pitchFamily="18" charset="0"/>
              </a:rPr>
              <a:t> Zhang, and Wei Jiang. "RAP-RAG: A Retrieval-Augmented Generation Framework with Adaptive Retrieval Task Planning." </a:t>
            </a:r>
            <a:r>
              <a:rPr lang="en-IN" sz="1200" i="1" dirty="0">
                <a:latin typeface="Times New Roman" panose="02020603050405020304" pitchFamily="18" charset="0"/>
                <a:cs typeface="Times New Roman" panose="02020603050405020304" pitchFamily="18" charset="0"/>
              </a:rPr>
              <a:t>Electronics</a:t>
            </a:r>
            <a:r>
              <a:rPr lang="en-IN" sz="1200" dirty="0">
                <a:latin typeface="Times New Roman" panose="02020603050405020304" pitchFamily="18" charset="0"/>
                <a:cs typeface="Times New Roman" panose="02020603050405020304" pitchFamily="18" charset="0"/>
              </a:rPr>
              <a:t> 14, no. 21 (2025): 4269.</a:t>
            </a:r>
          </a:p>
          <a:p>
            <a:pPr>
              <a:buFont typeface="+mj-lt"/>
              <a:buAutoNum type="arabicPeriod"/>
            </a:pPr>
            <a:r>
              <a:rPr lang="en-IN" sz="1200" dirty="0">
                <a:latin typeface="Times New Roman" panose="02020603050405020304" pitchFamily="18" charset="0"/>
                <a:cs typeface="Times New Roman" panose="02020603050405020304" pitchFamily="18" charset="0"/>
              </a:rPr>
              <a:t>Chang, Chia-Yuan, </a:t>
            </a:r>
            <a:r>
              <a:rPr lang="en-IN" sz="1200" dirty="0" err="1">
                <a:latin typeface="Times New Roman" panose="02020603050405020304" pitchFamily="18" charset="0"/>
                <a:cs typeface="Times New Roman" panose="02020603050405020304" pitchFamily="18" charset="0"/>
              </a:rPr>
              <a:t>Zhimeng</a:t>
            </a:r>
            <a:r>
              <a:rPr lang="en-IN" sz="1200" dirty="0">
                <a:latin typeface="Times New Roman" panose="02020603050405020304" pitchFamily="18" charset="0"/>
                <a:cs typeface="Times New Roman" panose="02020603050405020304" pitchFamily="18" charset="0"/>
              </a:rPr>
              <a:t> Jiang, Vineeth Rakesh, </a:t>
            </a:r>
            <a:r>
              <a:rPr lang="en-IN" sz="1200" dirty="0" err="1">
                <a:latin typeface="Times New Roman" panose="02020603050405020304" pitchFamily="18" charset="0"/>
                <a:cs typeface="Times New Roman" panose="02020603050405020304" pitchFamily="18" charset="0"/>
              </a:rPr>
              <a:t>Menghai</a:t>
            </a:r>
            <a:r>
              <a:rPr lang="en-IN" sz="1200" dirty="0">
                <a:latin typeface="Times New Roman" panose="02020603050405020304" pitchFamily="18" charset="0"/>
                <a:cs typeface="Times New Roman" panose="02020603050405020304" pitchFamily="18" charset="0"/>
              </a:rPr>
              <a:t> Pan, Chin-Chia Michael Yeh, </a:t>
            </a:r>
            <a:r>
              <a:rPr lang="en-IN" sz="1200" dirty="0" err="1">
                <a:latin typeface="Times New Roman" panose="02020603050405020304" pitchFamily="18" charset="0"/>
                <a:cs typeface="Times New Roman" panose="02020603050405020304" pitchFamily="18" charset="0"/>
              </a:rPr>
              <a:t>Guanchu</a:t>
            </a:r>
            <a:r>
              <a:rPr lang="en-IN" sz="1200" dirty="0">
                <a:latin typeface="Times New Roman" panose="02020603050405020304" pitchFamily="18" charset="0"/>
                <a:cs typeface="Times New Roman" panose="02020603050405020304" pitchFamily="18" charset="0"/>
              </a:rPr>
              <a:t> Wang, Mingzhi Hu et al. "Main-rag: Multi-agent filtering retrieval-augmented generation." In </a:t>
            </a:r>
            <a:r>
              <a:rPr lang="en-IN" sz="1200" i="1" dirty="0">
                <a:latin typeface="Times New Roman" panose="02020603050405020304" pitchFamily="18" charset="0"/>
                <a:cs typeface="Times New Roman" panose="02020603050405020304" pitchFamily="18" charset="0"/>
              </a:rPr>
              <a:t>Proceedings of the 63rd Annual Meeting of the Association for Computational Linguistics (Volume 1: Long Papers)</a:t>
            </a:r>
            <a:r>
              <a:rPr lang="en-IN" sz="1200" dirty="0">
                <a:latin typeface="Times New Roman" panose="02020603050405020304" pitchFamily="18" charset="0"/>
                <a:cs typeface="Times New Roman" panose="02020603050405020304" pitchFamily="18" charset="0"/>
              </a:rPr>
              <a:t>, pp. 2607-2622. 2025.</a:t>
            </a:r>
          </a:p>
          <a:p>
            <a:pPr>
              <a:buFont typeface="+mj-lt"/>
              <a:buAutoNum type="arabicPeriod"/>
            </a:pPr>
            <a:r>
              <a:rPr lang="en-IN" sz="1200" dirty="0">
                <a:latin typeface="Times New Roman" panose="02020603050405020304" pitchFamily="18" charset="0"/>
                <a:cs typeface="Times New Roman" panose="02020603050405020304" pitchFamily="18" charset="0"/>
              </a:rPr>
              <a:t>Asl, Mohammad Aghajani, Majid Asgari-Bidhendi, and Behrooz Minaei-Bidgoli. "Fair-rag: Faithful adaptive iterative refinement for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arXiv:2510.22344</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Zhang, Jintao, Guoliang Li, and </a:t>
            </a:r>
            <a:r>
              <a:rPr lang="en-IN" sz="1200" dirty="0" err="1">
                <a:latin typeface="Times New Roman" panose="02020603050405020304" pitchFamily="18" charset="0"/>
                <a:cs typeface="Times New Roman" panose="02020603050405020304" pitchFamily="18" charset="0"/>
              </a:rPr>
              <a:t>Jinyang</a:t>
            </a:r>
            <a:r>
              <a:rPr lang="en-IN" sz="1200" dirty="0">
                <a:latin typeface="Times New Roman" panose="02020603050405020304" pitchFamily="18" charset="0"/>
                <a:cs typeface="Times New Roman" panose="02020603050405020304" pitchFamily="18" charset="0"/>
              </a:rPr>
              <a:t> Su. "Sage: A framework of precise retrieval for rag." In </a:t>
            </a:r>
            <a:r>
              <a:rPr lang="en-IN" sz="1200" i="1" dirty="0">
                <a:latin typeface="Times New Roman" panose="02020603050405020304" pitchFamily="18" charset="0"/>
                <a:cs typeface="Times New Roman" panose="02020603050405020304" pitchFamily="18" charset="0"/>
              </a:rPr>
              <a:t>2025 IEEE 41st International Conference on Data Engineering (ICDE)</a:t>
            </a:r>
            <a:r>
              <a:rPr lang="en-IN" sz="1200" dirty="0">
                <a:latin typeface="Times New Roman" panose="02020603050405020304" pitchFamily="18" charset="0"/>
                <a:cs typeface="Times New Roman" panose="02020603050405020304" pitchFamily="18" charset="0"/>
              </a:rPr>
              <a:t>, pp. 1388-1401. IEEE, 2025.</a:t>
            </a:r>
          </a:p>
          <a:p>
            <a:pPr>
              <a:buFont typeface="+mj-lt"/>
              <a:buAutoNum type="arabicPeriod"/>
            </a:pPr>
            <a:r>
              <a:rPr lang="en-IN" sz="1200" dirty="0">
                <a:latin typeface="Times New Roman" panose="02020603050405020304" pitchFamily="18" charset="0"/>
                <a:cs typeface="Times New Roman" panose="02020603050405020304" pitchFamily="18" charset="0"/>
              </a:rPr>
              <a:t>Zhou, Jiawei, and Lei Chen. "</a:t>
            </a:r>
            <a:r>
              <a:rPr lang="en-IN" sz="1200" dirty="0" err="1">
                <a:latin typeface="Times New Roman" panose="02020603050405020304" pitchFamily="18" charset="0"/>
                <a:cs typeface="Times New Roman" panose="02020603050405020304" pitchFamily="18" charset="0"/>
              </a:rPr>
              <a:t>OpenRAG</a:t>
            </a:r>
            <a:r>
              <a:rPr lang="en-IN" sz="1200" dirty="0">
                <a:latin typeface="Times New Roman" panose="02020603050405020304" pitchFamily="18" charset="0"/>
                <a:cs typeface="Times New Roman" panose="02020603050405020304" pitchFamily="18" charset="0"/>
              </a:rPr>
              <a:t>: Optimizing RAG End-to-End via In-Context Retrieval Learning."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arXiv:2503.08398</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Yang, </a:t>
            </a:r>
            <a:r>
              <a:rPr lang="en-IN" sz="1200" dirty="0" err="1">
                <a:latin typeface="Times New Roman" panose="02020603050405020304" pitchFamily="18" charset="0"/>
                <a:cs typeface="Times New Roman" panose="02020603050405020304" pitchFamily="18" charset="0"/>
              </a:rPr>
              <a:t>Peiru</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Xintian</a:t>
            </a:r>
            <a:r>
              <a:rPr lang="en-IN" sz="1200" dirty="0">
                <a:latin typeface="Times New Roman" panose="02020603050405020304" pitchFamily="18" charset="0"/>
                <a:cs typeface="Times New Roman" panose="02020603050405020304" pitchFamily="18" charset="0"/>
              </a:rPr>
              <a:t> Li, </a:t>
            </a:r>
            <a:r>
              <a:rPr lang="en-IN" sz="1200" dirty="0" err="1">
                <a:latin typeface="Times New Roman" panose="02020603050405020304" pitchFamily="18" charset="0"/>
                <a:cs typeface="Times New Roman" panose="02020603050405020304" pitchFamily="18" charset="0"/>
              </a:rPr>
              <a:t>Zhiyang</a:t>
            </a:r>
            <a:r>
              <a:rPr lang="en-IN" sz="1200" dirty="0">
                <a:latin typeface="Times New Roman" panose="02020603050405020304" pitchFamily="18" charset="0"/>
                <a:cs typeface="Times New Roman" panose="02020603050405020304" pitchFamily="18" charset="0"/>
              </a:rPr>
              <a:t> Hu, </a:t>
            </a:r>
            <a:r>
              <a:rPr lang="en-IN" sz="1200" dirty="0" err="1">
                <a:latin typeface="Times New Roman" panose="02020603050405020304" pitchFamily="18" charset="0"/>
                <a:cs typeface="Times New Roman" panose="02020603050405020304" pitchFamily="18" charset="0"/>
              </a:rPr>
              <a:t>Jiapeng</a:t>
            </a:r>
            <a:r>
              <a:rPr lang="en-IN" sz="1200" dirty="0">
                <a:latin typeface="Times New Roman" panose="02020603050405020304" pitchFamily="18" charset="0"/>
                <a:cs typeface="Times New Roman" panose="02020603050405020304" pitchFamily="18" charset="0"/>
              </a:rPr>
              <a:t> Wang, Jinhua Yin, Huili Wang, Lizhi He et al. "</a:t>
            </a:r>
            <a:r>
              <a:rPr lang="en-IN" sz="1200" dirty="0" err="1">
                <a:latin typeface="Times New Roman" panose="02020603050405020304" pitchFamily="18" charset="0"/>
                <a:cs typeface="Times New Roman" panose="02020603050405020304" pitchFamily="18" charset="0"/>
              </a:rPr>
              <a:t>HeteRAG</a:t>
            </a:r>
            <a:r>
              <a:rPr lang="en-IN" sz="1200" dirty="0">
                <a:latin typeface="Times New Roman" panose="02020603050405020304" pitchFamily="18" charset="0"/>
                <a:cs typeface="Times New Roman" panose="02020603050405020304" pitchFamily="18" charset="0"/>
              </a:rPr>
              <a:t>: A Heterogeneous Retrieval-augmented Generation Framework with Decoupled Knowledge Representations."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arXiv:2504.10529</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err="1">
                <a:latin typeface="Times New Roman" panose="02020603050405020304" pitchFamily="18" charset="0"/>
                <a:cs typeface="Times New Roman" panose="02020603050405020304" pitchFamily="18" charset="0"/>
              </a:rPr>
              <a:t>Huwiler</a:t>
            </a:r>
            <a:r>
              <a:rPr lang="en-IN" sz="1200" dirty="0">
                <a:latin typeface="Times New Roman" panose="02020603050405020304" pitchFamily="18" charset="0"/>
                <a:cs typeface="Times New Roman" panose="02020603050405020304" pitchFamily="18" charset="0"/>
              </a:rPr>
              <a:t>, Daniel, Kurt Stockinger, and Jonathan Fürst. "</a:t>
            </a:r>
            <a:r>
              <a:rPr lang="en-IN" sz="1200" dirty="0" err="1">
                <a:latin typeface="Times New Roman" panose="02020603050405020304" pitchFamily="18" charset="0"/>
                <a:cs typeface="Times New Roman" panose="02020603050405020304" pitchFamily="18" charset="0"/>
              </a:rPr>
              <a:t>VersionRAG</a:t>
            </a:r>
            <a:r>
              <a:rPr lang="en-IN" sz="1200" dirty="0">
                <a:latin typeface="Times New Roman" panose="02020603050405020304" pitchFamily="18" charset="0"/>
                <a:cs typeface="Times New Roman" panose="02020603050405020304" pitchFamily="18" charset="0"/>
              </a:rPr>
              <a:t>: Version-Aware Retrieval-Augmented Generation for Evolving Documents."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arXiv:2510.08109</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Wu, </a:t>
            </a:r>
            <a:r>
              <a:rPr lang="en-IN" sz="1200" dirty="0" err="1">
                <a:latin typeface="Times New Roman" panose="02020603050405020304" pitchFamily="18" charset="0"/>
                <a:cs typeface="Times New Roman" panose="02020603050405020304" pitchFamily="18" charset="0"/>
              </a:rPr>
              <a:t>Ruofan</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Youngwon</a:t>
            </a:r>
            <a:r>
              <a:rPr lang="en-IN" sz="1200" dirty="0">
                <a:latin typeface="Times New Roman" panose="02020603050405020304" pitchFamily="18" charset="0"/>
                <a:cs typeface="Times New Roman" panose="02020603050405020304" pitchFamily="18" charset="0"/>
              </a:rPr>
              <a:t> Lee, Fan Shu, </a:t>
            </a:r>
            <a:r>
              <a:rPr lang="en-IN" sz="1200" dirty="0" err="1">
                <a:latin typeface="Times New Roman" panose="02020603050405020304" pitchFamily="18" charset="0"/>
                <a:cs typeface="Times New Roman" panose="02020603050405020304" pitchFamily="18" charset="0"/>
              </a:rPr>
              <a:t>Danmei</a:t>
            </a:r>
            <a:r>
              <a:rPr lang="en-IN" sz="1200" dirty="0">
                <a:latin typeface="Times New Roman" panose="02020603050405020304" pitchFamily="18" charset="0"/>
                <a:cs typeface="Times New Roman" panose="02020603050405020304" pitchFamily="18" charset="0"/>
              </a:rPr>
              <a:t> Xu, Seung-won Hwang, </a:t>
            </a:r>
            <a:r>
              <a:rPr lang="en-IN" sz="1200" dirty="0" err="1">
                <a:latin typeface="Times New Roman" panose="02020603050405020304" pitchFamily="18" charset="0"/>
                <a:cs typeface="Times New Roman" panose="02020603050405020304" pitchFamily="18" charset="0"/>
              </a:rPr>
              <a:t>Zhewei</a:t>
            </a:r>
            <a:r>
              <a:rPr lang="en-IN" sz="1200" dirty="0">
                <a:latin typeface="Times New Roman" panose="02020603050405020304" pitchFamily="18" charset="0"/>
                <a:cs typeface="Times New Roman" panose="02020603050405020304" pitchFamily="18" charset="0"/>
              </a:rPr>
              <a:t> Yao, </a:t>
            </a:r>
            <a:r>
              <a:rPr lang="en-IN" sz="1200" dirty="0" err="1">
                <a:latin typeface="Times New Roman" panose="02020603050405020304" pitchFamily="18" charset="0"/>
                <a:cs typeface="Times New Roman" panose="02020603050405020304" pitchFamily="18" charset="0"/>
              </a:rPr>
              <a:t>Yuxiong</a:t>
            </a:r>
            <a:r>
              <a:rPr lang="en-IN" sz="1200" dirty="0">
                <a:latin typeface="Times New Roman" panose="02020603050405020304" pitchFamily="18" charset="0"/>
                <a:cs typeface="Times New Roman" panose="02020603050405020304" pitchFamily="18" charset="0"/>
              </a:rPr>
              <a:t> He, and Feng Yan. "</a:t>
            </a:r>
            <a:r>
              <a:rPr lang="en-IN" sz="1200" dirty="0" err="1">
                <a:latin typeface="Times New Roman" panose="02020603050405020304" pitchFamily="18" charset="0"/>
                <a:cs typeface="Times New Roman" panose="02020603050405020304" pitchFamily="18" charset="0"/>
              </a:rPr>
              <a:t>Composerag</a:t>
            </a:r>
            <a:r>
              <a:rPr lang="en-IN" sz="1200" dirty="0">
                <a:latin typeface="Times New Roman" panose="02020603050405020304" pitchFamily="18" charset="0"/>
                <a:cs typeface="Times New Roman" panose="02020603050405020304" pitchFamily="18" charset="0"/>
              </a:rPr>
              <a:t>: A modular and composable rag for corpus-grounded multi-hop question answering."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arXiv:2506.00232</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Hu, </a:t>
            </a:r>
            <a:r>
              <a:rPr lang="en-IN" sz="1200" dirty="0" err="1">
                <a:latin typeface="Times New Roman" panose="02020603050405020304" pitchFamily="18" charset="0"/>
                <a:cs typeface="Times New Roman" panose="02020603050405020304" pitchFamily="18" charset="0"/>
              </a:rPr>
              <a:t>Yuntong</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Zhihan</a:t>
            </a:r>
            <a:r>
              <a:rPr lang="en-IN" sz="1200" dirty="0">
                <a:latin typeface="Times New Roman" panose="02020603050405020304" pitchFamily="18" charset="0"/>
                <a:cs typeface="Times New Roman" panose="02020603050405020304" pitchFamily="18" charset="0"/>
              </a:rPr>
              <a:t> Lei, </a:t>
            </a:r>
            <a:r>
              <a:rPr lang="en-IN" sz="1200" dirty="0" err="1">
                <a:latin typeface="Times New Roman" panose="02020603050405020304" pitchFamily="18" charset="0"/>
                <a:cs typeface="Times New Roman" panose="02020603050405020304" pitchFamily="18" charset="0"/>
              </a:rPr>
              <a:t>Zhongjie</a:t>
            </a:r>
            <a:r>
              <a:rPr lang="en-IN" sz="1200" dirty="0">
                <a:latin typeface="Times New Roman" panose="02020603050405020304" pitchFamily="18" charset="0"/>
                <a:cs typeface="Times New Roman" panose="02020603050405020304" pitchFamily="18" charset="0"/>
              </a:rPr>
              <a:t> Dai, Allen Zhang, Abhinav </a:t>
            </a:r>
            <a:r>
              <a:rPr lang="en-IN" sz="1200" dirty="0" err="1">
                <a:latin typeface="Times New Roman" panose="02020603050405020304" pitchFamily="18" charset="0"/>
                <a:cs typeface="Times New Roman" panose="02020603050405020304" pitchFamily="18" charset="0"/>
              </a:rPr>
              <a:t>Angirekula</a:t>
            </a:r>
            <a:r>
              <a:rPr lang="en-IN" sz="1200" dirty="0">
                <a:latin typeface="Times New Roman" panose="02020603050405020304" pitchFamily="18" charset="0"/>
                <a:cs typeface="Times New Roman" panose="02020603050405020304" pitchFamily="18" charset="0"/>
              </a:rPr>
              <a:t>, Zheng Zhang, and Liang Zhao. "Cg-rag: Research question answering by citation graph retrieval-augmented </a:t>
            </a:r>
            <a:r>
              <a:rPr lang="en-IN" sz="1200" dirty="0" err="1">
                <a:latin typeface="Times New Roman" panose="02020603050405020304" pitchFamily="18" charset="0"/>
                <a:cs typeface="Times New Roman" panose="02020603050405020304" pitchFamily="18" charset="0"/>
              </a:rPr>
              <a:t>llms</a:t>
            </a:r>
            <a:r>
              <a:rPr lang="en-IN" sz="1200" dirty="0">
                <a:latin typeface="Times New Roman" panose="02020603050405020304" pitchFamily="18" charset="0"/>
                <a:cs typeface="Times New Roman" panose="02020603050405020304" pitchFamily="18" charset="0"/>
              </a:rPr>
              <a:t>." In </a:t>
            </a:r>
            <a:r>
              <a:rPr lang="en-IN" sz="1200" i="1" dirty="0">
                <a:latin typeface="Times New Roman" panose="02020603050405020304" pitchFamily="18" charset="0"/>
                <a:cs typeface="Times New Roman" panose="02020603050405020304" pitchFamily="18" charset="0"/>
              </a:rPr>
              <a:t>Proceedings of the 48th International ACM SIGIR Conference on Research and Development in Information Retrieval</a:t>
            </a:r>
            <a:r>
              <a:rPr lang="en-IN" sz="1200" dirty="0">
                <a:latin typeface="Times New Roman" panose="02020603050405020304" pitchFamily="18" charset="0"/>
                <a:cs typeface="Times New Roman" panose="02020603050405020304" pitchFamily="18" charset="0"/>
              </a:rPr>
              <a:t>, pp. 678-687. 2025.</a:t>
            </a:r>
          </a:p>
          <a:p>
            <a:pPr>
              <a:buFont typeface="+mj-lt"/>
              <a:buAutoNum type="arabicPeriod"/>
            </a:pPr>
            <a:r>
              <a:rPr lang="en-IN" sz="1200" dirty="0">
                <a:latin typeface="Times New Roman" panose="02020603050405020304" pitchFamily="18" charset="0"/>
                <a:cs typeface="Times New Roman" panose="02020603050405020304" pitchFamily="18" charset="0"/>
              </a:rPr>
              <a:t>Cheng, </a:t>
            </a:r>
            <a:r>
              <a:rPr lang="en-IN" sz="1200" dirty="0" err="1">
                <a:latin typeface="Times New Roman" panose="02020603050405020304" pitchFamily="18" charset="0"/>
                <a:cs typeface="Times New Roman" panose="02020603050405020304" pitchFamily="18" charset="0"/>
              </a:rPr>
              <a:t>Mingyue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Yucong</a:t>
            </a:r>
            <a:r>
              <a:rPr lang="en-IN" sz="1200" dirty="0">
                <a:latin typeface="Times New Roman" panose="02020603050405020304" pitchFamily="18" charset="0"/>
                <a:cs typeface="Times New Roman" panose="02020603050405020304" pitchFamily="18" charset="0"/>
              </a:rPr>
              <a:t> Luo, Jie Ouyang, Qi Liu, </a:t>
            </a:r>
            <a:r>
              <a:rPr lang="en-IN" sz="1200" dirty="0" err="1">
                <a:latin typeface="Times New Roman" panose="02020603050405020304" pitchFamily="18" charset="0"/>
                <a:cs typeface="Times New Roman" panose="02020603050405020304" pitchFamily="18" charset="0"/>
              </a:rPr>
              <a:t>Huijie</a:t>
            </a:r>
            <a:r>
              <a:rPr lang="en-IN" sz="1200" dirty="0">
                <a:latin typeface="Times New Roman" panose="02020603050405020304" pitchFamily="18" charset="0"/>
                <a:cs typeface="Times New Roman" panose="02020603050405020304" pitchFamily="18" charset="0"/>
              </a:rPr>
              <a:t> Liu, Li </a:t>
            </a:r>
            <a:r>
              <a:rPr lang="en-IN" sz="1200" dirty="0" err="1">
                <a:latin typeface="Times New Roman" panose="02020603050405020304" pitchFamily="18" charset="0"/>
                <a:cs typeface="Times New Roman" panose="02020603050405020304" pitchFamily="18" charset="0"/>
              </a:rPr>
              <a:t>Li</a:t>
            </a:r>
            <a:r>
              <a:rPr lang="en-IN" sz="1200" dirty="0">
                <a:latin typeface="Times New Roman" panose="02020603050405020304" pitchFamily="18" charset="0"/>
                <a:cs typeface="Times New Roman" panose="02020603050405020304" pitchFamily="18" charset="0"/>
              </a:rPr>
              <a:t>, Shuo Yu et al. "A survey on knowledge-oriented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arXiv:2503.10677</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US" sz="1200" dirty="0">
                <a:latin typeface="Times New Roman" panose="02020603050405020304" pitchFamily="18" charset="0"/>
                <a:cs typeface="Times New Roman" panose="02020603050405020304" pitchFamily="18" charset="0"/>
              </a:rPr>
              <a:t>Genesis, Jeanie. "Retrieval-Augmented Text Generation: Methods, Challenges, and Applications." (2025).</a:t>
            </a:r>
            <a:endParaRPr lang="en-IN" sz="12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1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E310034-D6CB-27DF-54EB-294FA0C0DBC8}"/>
              </a:ext>
            </a:extLst>
          </p:cNvPr>
          <p:cNvSpPr>
            <a:spLocks noGrp="1"/>
          </p:cNvSpPr>
          <p:nvPr>
            <p:ph type="sldNum" sz="quarter" idx="12"/>
          </p:nvPr>
        </p:nvSpPr>
        <p:spPr/>
        <p:txBody>
          <a:bodyPr/>
          <a:lstStyle/>
          <a:p>
            <a:fld id="{465B6183-8A9B-4479-A92F-19E2694DB44A}" type="slidenum">
              <a:rPr lang="en-IN" smtClean="0"/>
              <a:t>30</a:t>
            </a:fld>
            <a:endParaRPr lang="en-IN"/>
          </a:p>
        </p:txBody>
      </p:sp>
      <p:pic>
        <p:nvPicPr>
          <p:cNvPr id="5" name="Picture 4">
            <a:extLst>
              <a:ext uri="{FF2B5EF4-FFF2-40B4-BE49-F238E27FC236}">
                <a16:creationId xmlns:a16="http://schemas.microsoft.com/office/drawing/2014/main" id="{E09EF1DA-89AA-3658-EEF8-D002F326D9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682972E6-4D64-CB2F-B33B-B7563E0A33C1}"/>
              </a:ext>
            </a:extLst>
          </p:cNvPr>
          <p:cNvSpPr txBox="1"/>
          <p:nvPr/>
        </p:nvSpPr>
        <p:spPr>
          <a:xfrm>
            <a:off x="3008671" y="142815"/>
            <a:ext cx="90410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132E4E6-22A9-BBF9-12AD-976DC80EB2DC}"/>
              </a:ext>
            </a:extLst>
          </p:cNvPr>
          <p:cNvSpPr txBox="1"/>
          <p:nvPr/>
        </p:nvSpPr>
        <p:spPr>
          <a:xfrm>
            <a:off x="412956" y="688258"/>
            <a:ext cx="5507492"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References</a:t>
            </a:r>
          </a:p>
        </p:txBody>
      </p:sp>
    </p:spTree>
    <p:extLst>
      <p:ext uri="{BB962C8B-B14F-4D97-AF65-F5344CB8AC3E}">
        <p14:creationId xmlns:p14="http://schemas.microsoft.com/office/powerpoint/2010/main" val="2569947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31</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gn="just">
              <a:lnSpc>
                <a:spcPct val="107000"/>
              </a:lnSpc>
              <a:spcAft>
                <a:spcPts val="800"/>
              </a:spcAft>
              <a:buFont typeface="+mj-lt"/>
              <a:buAutoNum type="arabicPeriod"/>
            </a:pP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1681515" y="1983046"/>
            <a:ext cx="8458200" cy="1200329"/>
          </a:xfrm>
          <a:prstGeom prst="rect">
            <a:avLst/>
          </a:prstGeom>
          <a:noFill/>
        </p:spPr>
        <p:txBody>
          <a:bodyPr wrap="square" rtlCol="0">
            <a:spAutoFit/>
          </a:bodyPr>
          <a:lstStyle/>
          <a:p>
            <a:pPr algn="ctr"/>
            <a:r>
              <a:rPr lang="en-US" sz="7200" b="1" dirty="0">
                <a:solidFill>
                  <a:srgbClr val="002060"/>
                </a:solidFill>
                <a:latin typeface="Times New Roman" panose="02020603050405020304" pitchFamily="18" charset="0"/>
                <a:cs typeface="Times New Roman" panose="02020603050405020304" pitchFamily="18" charset="0"/>
              </a:rPr>
              <a:t>Any Queries..???</a:t>
            </a:r>
          </a:p>
        </p:txBody>
      </p:sp>
    </p:spTree>
    <p:extLst>
      <p:ext uri="{BB962C8B-B14F-4D97-AF65-F5344CB8AC3E}">
        <p14:creationId xmlns:p14="http://schemas.microsoft.com/office/powerpoint/2010/main" val="987627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32</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gn="just">
              <a:lnSpc>
                <a:spcPct val="107000"/>
              </a:lnSpc>
              <a:spcAft>
                <a:spcPts val="800"/>
              </a:spcAft>
              <a:buFont typeface="+mj-lt"/>
              <a:buAutoNum type="arabicPeriod"/>
            </a:pP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1681515" y="1983046"/>
            <a:ext cx="8458200" cy="1200329"/>
          </a:xfrm>
          <a:prstGeom prst="rect">
            <a:avLst/>
          </a:prstGeom>
          <a:noFill/>
        </p:spPr>
        <p:txBody>
          <a:bodyPr wrap="square" rtlCol="0">
            <a:spAutoFit/>
          </a:bodyPr>
          <a:lstStyle/>
          <a:p>
            <a:pPr algn="ctr"/>
            <a:r>
              <a:rPr lang="en-US" sz="7200" b="1" dirty="0">
                <a:solidFill>
                  <a:srgbClr val="00206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36370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2094</TotalTime>
  <Words>4246</Words>
  <Application>Microsoft Office PowerPoint</Application>
  <PresentationFormat>Widescreen</PresentationFormat>
  <Paragraphs>535</Paragraphs>
  <Slides>32</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Calibri Light</vt:lpstr>
      <vt:lpstr>Cambria Math</vt:lpstr>
      <vt:lpstr>Garamond</vt:lpstr>
      <vt:lpstr>Helvetica Neue</vt:lpstr>
      <vt:lpstr>Times New Roman</vt:lpstr>
      <vt:lpstr>Times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Dataset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Vamsi Bandi</dc:creator>
  <cp:lastModifiedBy>Tejaswi Aramreddy</cp:lastModifiedBy>
  <cp:revision>108</cp:revision>
  <dcterms:created xsi:type="dcterms:W3CDTF">2024-01-08T09:44:28Z</dcterms:created>
  <dcterms:modified xsi:type="dcterms:W3CDTF">2026-05-05T09:39:06Z</dcterms:modified>
</cp:coreProperties>
</file>